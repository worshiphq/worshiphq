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30 seconds. Do NOT read this slide aloud.
Say: "Pastor, thank you for your time. I'll keep this to about fifteen minutes, and most of it will be me showing you the actual thing rather than slides."
Then ask ONE question and let him talk:
"Right now, how do you keep track of your members and your offerings?"
Whatever he says — spreadsheets, books, someone's phone — write it down. You will refer back to his exact words for the rest of the meeting. That single question turns this from a pitch into a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20 seconds. This is purely to stop him wondering how long you'll take.
Say: "Four things, about fifteen minutes, then I'll stop and you can tell me what you think."
Pastors sit through a lot of pitches with no end in sight. Naming the length up front buys you his attention for the whole meeting.
Move on quickly — don't linger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 2 minutes. THE MOST IMPORTANT SLIDE. Do not rush it.
Use HIS words from your opening question. If he said "we use an exercise book," point at the offering card and say: "This is the one you mentioned."
Say: "Nothing here is anybody's fault. Every church I've seen runs like this. The trouble isn't that the information is missing — it's that it's scattered, so no one can see the whole picture at once."
Then the line that lands hardest:
"If a member stopped coming two months ago, how long before someone notices?"
PAUSE. Let it sit. Don't fill the silence — that pause is what makes the rest of the demo matter to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PLACE — 45 seconds. Skim it, don't recite all six.
Say: "Same six things every church does. The difference is they now talk to each other — the person you check in on Sunday is the same record that shows in giving, and the same one the birthday message goes to. You enter someone once."
DO NOT go feature-by-feature here. This slide exists only so he knows the scope. The proof comes next, live.
&gt;&gt;&gt; NOW SWITCH TO THE BROWSER. The rest of the demo is the real product. &lt;&lt;&lt;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1 — 3 minutes. SHOW, don't describe.
ON SCREEN: Attendance → "Start check-in" → search a name → click it.
Point out the row turning green and the "Checked in" badge.
Say: "Search the same person again — see, it tells me they're already in. Your ushers can't double-count."
THE MOMENT THAT SELLS IT: hand him YOUR phone with the check-in link open and let him check himself in. Watch the number move on your laptop. Nothing you say beats him doing it himself.
If the wifi is poor: the desktop app works fully offline and syncs later — say so, don't apologise.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2 — 3 minutes. This is the slide that convinces the treasurer, and pastors think about money.
ON SCREEN: Giving → record a gift → then open the public giving link on your phone.
Say: "This link goes in your WhatsApp group or on a poster with a QR code. Someone travelling can still give on Sunday morning."
THE POINT TO HAMMER — say it slowly:
"You are not trusting anyone's memory. Every gift has a name, a time and a receipt attached to it. When someone asks what came in last month, you don't go looking — it's already added up."
If he asks about fees: giving goes through Paystack, the same processor the banks use. Money lands in the church's own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3 — 2 minutes. This is the EMOTIONAL slide. Slow down here.
ON SCREEN: Reminders / Automations, then Follow-ups.
Say: "This is the part I think matters most for a pastor. Everything else here saves time. This one is about people not slipping through."
Call back to your opening question:
"You told me earlier that [his exact words]. This is where that gets caught."
Then: "When a member gets a birthday message from the church, they don't think 'nice software.' They think the church remembered them. That's the whole point."
Let that sit for a second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4 — 2 minutes. This is the one that closes leadership.
ON SCREEN: Dashboard, then Reports.
Say: "This is what you see when you log in Monday morning. Attendance trend, giving trend, birthdays this week, who needs following up."
The numbers on this slide are from a REAL church already on the system — 45 members, 14 departments. Say that. It proves it isn't a mock-up.
THE CLOSING LINE FOR THIS SECTION:
"When your board asks how the church is doing, you won't be estimating. You'll open one page."
If he has a board or elders meeting coming up, mention the Excel export specifically — that's a concrete pain you just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 HANDLING — 90 seconds. These are the four questions every pastor asks. Answer them before he has to.
Watch his face — if he already looks convinced, go through this FAST and get to pricing.
The offline point matters in Ghana. Say plainly: "If the network is down on Sunday, check-in still works. It catches up when you're back online."
On permissions, be concrete: "Your finance officer doesn't need to see everything, and your ushers don't need to see the offering. You set that."
If he asks "who else is using it?" — be honest: a church is live on it now with 45 members. Don't inflate numbers. Offer him a call with them if he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 90 seconds. Do NOT apologise for the price and do NOT rush past it.
Lead with free, always:
"You can start today at no cost, and it stays free until you pass fifty members. So there's nothing to decide financially right now."
If his church is bigger than 50, go straight to the relevant tier and compare it to something real:
"Starter is ten dollars a month. That's less than what the church spends on printing in a week."
Yearly saves about two months — mention it once, don't push.
DO NOT list every feature per tier. He is buying an outcome, not a checklist.
Then STOP TALKING. Let him react to the number. Whoever speaks first after a price 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 2 minutes. Do not end with "let me know what you think." That is how demos die.
ASK FOR SOMETHING SPECIFIC. Best to worst:
1. BEST — set it up in the room: "Can we spend ten minutes now and put your church in? You'll have it working before I go."
2. GOOD — book the next meeting with a date: "Could I come Thursday and help you load your members?"
3. STILL FINE — get a name: "Who runs your membership records? Could I show them this?"
IF HE HESITATES, ask what's holding him — then answer only that:
· "I'm not good with computers" → "Then let me set it up for you. You only have to look at it."
· "I must ask the elders" → "Of course. Can I put a one-page summary together for that meeting?"
· "We're too small" → "Then it's free. Start with the fifty you have."
THEN GO QUIET AND LET HIM ANSWER.
Leave him with: the site address, your phone number, and — if he agreed — a diary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26"/>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97742A"/>
          </a:solidFill>
          <a:ln/>
        </p:spPr>
      </p:sp>
      <p:sp>
        <p:nvSpPr>
          <p:cNvPr id="3" name="Shape 1"/>
          <p:cNvSpPr/>
          <p:nvPr/>
        </p:nvSpPr>
        <p:spPr>
          <a:xfrm>
            <a:off x="777240" y="1371600"/>
            <a:ext cx="2880360" cy="2880360"/>
          </a:xfrm>
          <a:prstGeom prst="roundRect">
            <a:avLst>
              <a:gd name="adj" fmla="val 3810"/>
            </a:avLst>
          </a:prstGeom>
          <a:solidFill>
            <a:srgbClr val="F6F1E6"/>
          </a:solidFill>
          <a:ln/>
        </p:spPr>
      </p:sp>
      <p:pic>
        <p:nvPicPr>
          <p:cNvPr id="4" name="Image 0" descr="C:\Users\worsh\CODE CLAUDE\worshiphq\public\logo.png">    </p:cNvPr>
          <p:cNvPicPr>
            <a:picLocks noChangeAspect="1"/>
          </p:cNvPicPr>
          <p:nvPr/>
        </p:nvPicPr>
        <p:blipFill>
          <a:blip r:embed="rId1"/>
          <a:stretch>
            <a:fillRect/>
          </a:stretch>
        </p:blipFill>
        <p:spPr>
          <a:xfrm>
            <a:off x="969264" y="1572768"/>
            <a:ext cx="2487168" cy="2487168"/>
          </a:xfrm>
          <a:prstGeom prst="rect">
            <a:avLst/>
          </a:prstGeom>
        </p:spPr>
      </p:pic>
      <p:sp>
        <p:nvSpPr>
          <p:cNvPr id="5" name="Text 2"/>
          <p:cNvSpPr/>
          <p:nvPr/>
        </p:nvSpPr>
        <p:spPr>
          <a:xfrm>
            <a:off x="3977640" y="1691640"/>
            <a:ext cx="7498080" cy="1737360"/>
          </a:xfrm>
          <a:prstGeom prst="rect">
            <a:avLst/>
          </a:prstGeom>
          <a:noFill/>
          <a:ln/>
        </p:spPr>
        <p:txBody>
          <a:bodyPr wrap="square" rtlCol="0" anchor="ctr"/>
          <a:lstStyle/>
          <a:p>
            <a:pPr indent="0" marL="0">
              <a:lnSpc>
                <a:spcPts val="5000"/>
              </a:lnSpc>
              <a:buNone/>
            </a:pPr>
            <a:r>
              <a:rPr lang="en-US" sz="4400" b="1" dirty="0">
                <a:solidFill>
                  <a:srgbClr val="FFFFFF"/>
                </a:solidFill>
                <a:latin typeface="Trebuchet MS" pitchFamily="34" charset="0"/>
                <a:ea typeface="Trebuchet MS" pitchFamily="34" charset="-122"/>
                <a:cs typeface="Trebuchet MS" pitchFamily="34" charset="-120"/>
              </a:rPr>
              <a:t>Your whole church.</a:t>
            </a:r>
            <a:endParaRPr lang="en-US" sz="4400" dirty="0"/>
          </a:p>
          <a:p>
            <a:pPr indent="0" marL="0">
              <a:lnSpc>
                <a:spcPts val="5000"/>
              </a:lnSpc>
              <a:buNone/>
            </a:pPr>
            <a:r>
              <a:rPr lang="en-US" sz="4400" b="1" dirty="0">
                <a:solidFill>
                  <a:srgbClr val="FFFFFF"/>
                </a:solidFill>
                <a:latin typeface="Trebuchet MS" pitchFamily="34" charset="0"/>
                <a:ea typeface="Trebuchet MS" pitchFamily="34" charset="-122"/>
                <a:cs typeface="Trebuchet MS" pitchFamily="34" charset="-120"/>
              </a:rPr>
              <a:t>One place.</a:t>
            </a:r>
            <a:endParaRPr lang="en-US" sz="4400" dirty="0"/>
          </a:p>
        </p:txBody>
      </p:sp>
      <p:sp>
        <p:nvSpPr>
          <p:cNvPr id="6" name="Text 3"/>
          <p:cNvSpPr/>
          <p:nvPr/>
        </p:nvSpPr>
        <p:spPr>
          <a:xfrm>
            <a:off x="4023360" y="3474720"/>
            <a:ext cx="7406640" cy="822960"/>
          </a:xfrm>
          <a:prstGeom prst="rect">
            <a:avLst/>
          </a:prstGeom>
          <a:noFill/>
          <a:ln/>
        </p:spPr>
        <p:txBody>
          <a:bodyPr wrap="square" rtlCol="0" anchor="ctr"/>
          <a:lstStyle/>
          <a:p>
            <a:pPr indent="0" marL="0">
              <a:lnSpc>
                <a:spcPts val="2600"/>
              </a:lnSpc>
              <a:buNone/>
            </a:pPr>
            <a:r>
              <a:rPr lang="en-US" sz="1600" dirty="0">
                <a:solidFill>
                  <a:srgbClr val="C9D6CF"/>
                </a:solidFill>
                <a:latin typeface="Calibri" pitchFamily="34" charset="0"/>
                <a:ea typeface="Calibri" pitchFamily="34" charset="-122"/>
                <a:cs typeface="Calibri" pitchFamily="34" charset="-120"/>
              </a:rPr>
              <a:t>People · Giving · Attendance · Events · Messaging —</a:t>
            </a:r>
            <a:endParaRPr lang="en-US" sz="1600" dirty="0"/>
          </a:p>
          <a:p>
            <a:pPr indent="0" marL="0">
              <a:lnSpc>
                <a:spcPts val="2600"/>
              </a:lnSpc>
              <a:buNone/>
            </a:pPr>
            <a:r>
              <a:rPr lang="en-US" sz="1600" dirty="0">
                <a:solidFill>
                  <a:srgbClr val="C9D6CF"/>
                </a:solidFill>
                <a:latin typeface="Calibri" pitchFamily="34" charset="0"/>
                <a:ea typeface="Calibri" pitchFamily="34" charset="-122"/>
                <a:cs typeface="Calibri" pitchFamily="34" charset="-120"/>
              </a:rPr>
              <a:t>the complete church management system.</a:t>
            </a:r>
            <a:endParaRPr lang="en-US" sz="1600" dirty="0"/>
          </a:p>
        </p:txBody>
      </p:sp>
      <p:sp>
        <p:nvSpPr>
          <p:cNvPr id="7" name="Shape 4"/>
          <p:cNvSpPr/>
          <p:nvPr/>
        </p:nvSpPr>
        <p:spPr>
          <a:xfrm>
            <a:off x="4023360" y="4434840"/>
            <a:ext cx="1371600" cy="41148"/>
          </a:xfrm>
          <a:prstGeom prst="rect">
            <a:avLst/>
          </a:prstGeom>
          <a:solidFill>
            <a:srgbClr val="97742A"/>
          </a:solidFill>
          <a:ln/>
        </p:spPr>
      </p:sp>
      <p:sp>
        <p:nvSpPr>
          <p:cNvPr id="8" name="Text 5"/>
          <p:cNvSpPr/>
          <p:nvPr/>
        </p:nvSpPr>
        <p:spPr>
          <a:xfrm>
            <a:off x="4023360" y="4709160"/>
            <a:ext cx="5486400" cy="365760"/>
          </a:xfrm>
          <a:prstGeom prst="rect">
            <a:avLst/>
          </a:prstGeom>
          <a:noFill/>
          <a:ln/>
        </p:spPr>
        <p:txBody>
          <a:bodyPr wrap="square" rtlCol="0" anchor="ctr"/>
          <a:lstStyle/>
          <a:p>
            <a:pPr indent="0" marL="0">
              <a:buNone/>
            </a:pPr>
            <a:r>
              <a:rPr lang="en-US" sz="1400" b="1" dirty="0">
                <a:solidFill>
                  <a:srgbClr val="97742A"/>
                </a:solidFill>
                <a:latin typeface="Calibri" pitchFamily="34" charset="0"/>
                <a:ea typeface="Calibri" pitchFamily="34" charset="-122"/>
                <a:cs typeface="Calibri" pitchFamily="34" charset="-120"/>
              </a:rPr>
              <a:t>worshiphq.app</a:t>
            </a:r>
            <a:endParaRPr lang="en-US" sz="1400" dirty="0"/>
          </a:p>
        </p:txBody>
      </p:sp>
      <p:sp>
        <p:nvSpPr>
          <p:cNvPr id="9" name="Text 6"/>
          <p:cNvSpPr/>
          <p:nvPr/>
        </p:nvSpPr>
        <p:spPr>
          <a:xfrm>
            <a:off x="4023360" y="5138928"/>
            <a:ext cx="7315200" cy="365760"/>
          </a:xfrm>
          <a:prstGeom prst="rect">
            <a:avLst/>
          </a:prstGeom>
          <a:noFill/>
          <a:ln/>
        </p:spPr>
        <p:txBody>
          <a:bodyPr wrap="square" rtlCol="0" anchor="ctr"/>
          <a:lstStyle/>
          <a:p>
            <a:pPr indent="0" marL="0">
              <a:buNone/>
            </a:pPr>
            <a:r>
              <a:rPr lang="en-US" sz="1300" dirty="0">
                <a:solidFill>
                  <a:srgbClr val="D8CBA8"/>
                </a:solidFill>
                <a:latin typeface="Calibri" pitchFamily="34" charset="0"/>
                <a:ea typeface="Calibri" pitchFamily="34" charset="-122"/>
                <a:cs typeface="Calibri" pitchFamily="34" charset="-120"/>
              </a:rPr>
              <a:t>Free forever for your first 50 members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6"/>
        </a:solidFill>
      </p:bgPr>
    </p:bg>
    <p:spTree>
      <p:nvGrpSpPr>
        <p:cNvPr id="1" name=""/>
        <p:cNvGrpSpPr/>
        <p:nvPr/>
      </p:nvGrpSpPr>
      <p:grpSpPr>
        <a:xfrm>
          <a:off x="0" y="0"/>
          <a:ext cx="0" cy="0"/>
          <a:chOff x="0" y="0"/>
          <a:chExt cx="0" cy="0"/>
        </a:xfrm>
      </p:grpSpPr>
      <p:sp>
        <p:nvSpPr>
          <p:cNvPr id="2" name="Shape 0"/>
          <p:cNvSpPr/>
          <p:nvPr/>
        </p:nvSpPr>
        <p:spPr>
          <a:xfrm>
            <a:off x="0" y="0"/>
            <a:ext cx="12191695" cy="1481328"/>
          </a:xfrm>
          <a:prstGeom prst="rect">
            <a:avLst/>
          </a:prstGeom>
          <a:solidFill>
            <a:srgbClr val="0B2B26"/>
          </a:solidFill>
          <a:ln/>
        </p:spPr>
      </p:sp>
      <p:sp>
        <p:nvSpPr>
          <p:cNvPr id="3" name="Shape 1"/>
          <p:cNvSpPr/>
          <p:nvPr/>
        </p:nvSpPr>
        <p:spPr>
          <a:xfrm>
            <a:off x="0" y="1481328"/>
            <a:ext cx="12191695" cy="41148"/>
          </a:xfrm>
          <a:prstGeom prst="rect">
            <a:avLst/>
          </a:prstGeom>
          <a:solidFill>
            <a:srgbClr val="97742A"/>
          </a:solidFill>
          <a:ln/>
        </p:spPr>
      </p:sp>
      <p:sp>
        <p:nvSpPr>
          <p:cNvPr id="4" name="Text 2"/>
          <p:cNvSpPr/>
          <p:nvPr/>
        </p:nvSpPr>
        <p:spPr>
          <a:xfrm>
            <a:off x="685800" y="274320"/>
            <a:ext cx="10789920" cy="274320"/>
          </a:xfrm>
          <a:prstGeom prst="rect">
            <a:avLst/>
          </a:prstGeom>
          <a:noFill/>
          <a:ln/>
        </p:spPr>
        <p:txBody>
          <a:bodyPr wrap="square" rtlCol="0" anchor="ctr"/>
          <a:lstStyle/>
          <a:p>
            <a:pPr indent="0" marL="0">
              <a:buNone/>
            </a:pPr>
            <a:r>
              <a:rPr lang="en-US" sz="1100" b="1" spc="300" kern="0" dirty="0">
                <a:solidFill>
                  <a:srgbClr val="97742A"/>
                </a:solidFill>
                <a:latin typeface="Calibri" pitchFamily="34" charset="0"/>
                <a:ea typeface="Calibri" pitchFamily="34" charset="-122"/>
                <a:cs typeface="Calibri" pitchFamily="34" charset="-120"/>
              </a:rPr>
              <a:t>OUR TIME TOGETHER</a:t>
            </a:r>
            <a:endParaRPr lang="en-US" sz="1100" dirty="0"/>
          </a:p>
        </p:txBody>
      </p:sp>
      <p:sp>
        <p:nvSpPr>
          <p:cNvPr id="5" name="Text 3"/>
          <p:cNvSpPr/>
          <p:nvPr/>
        </p:nvSpPr>
        <p:spPr>
          <a:xfrm>
            <a:off x="685800" y="566928"/>
            <a:ext cx="10789920" cy="749808"/>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Fifteen minutes, four things</a:t>
            </a:r>
            <a:endParaRPr lang="en-US" sz="3400" dirty="0"/>
          </a:p>
        </p:txBody>
      </p:sp>
      <p:sp>
        <p:nvSpPr>
          <p:cNvPr id="6" name="Shape 4"/>
          <p:cNvSpPr/>
          <p:nvPr/>
        </p:nvSpPr>
        <p:spPr>
          <a:xfrm>
            <a:off x="822960" y="1929384"/>
            <a:ext cx="566928" cy="566928"/>
          </a:xfrm>
          <a:prstGeom prst="ellipse">
            <a:avLst/>
          </a:prstGeom>
          <a:solidFill>
            <a:srgbClr val="123D36"/>
          </a:solidFill>
          <a:ln/>
        </p:spPr>
      </p:sp>
      <p:sp>
        <p:nvSpPr>
          <p:cNvPr id="7" name="Text 5"/>
          <p:cNvSpPr/>
          <p:nvPr/>
        </p:nvSpPr>
        <p:spPr>
          <a:xfrm>
            <a:off x="822960" y="1929384"/>
            <a:ext cx="566928" cy="566928"/>
          </a:xfrm>
          <a:prstGeom prst="rect">
            <a:avLst/>
          </a:prstGeom>
          <a:noFill/>
          <a:ln/>
        </p:spPr>
        <p:txBody>
          <a:bodyPr wrap="square" lIns="0" tIns="0" rIns="0" bIns="0" rtlCol="0" anchor="ctr"/>
          <a:lstStyle/>
          <a:p>
            <a:pPr algn="ctr" indent="0" marL="0">
              <a:buNone/>
            </a:pPr>
            <a:r>
              <a:rPr lang="en-US" sz="1900" b="1" dirty="0">
                <a:solidFill>
                  <a:srgbClr val="97742A"/>
                </a:solidFill>
                <a:latin typeface="Trebuchet MS" pitchFamily="34" charset="0"/>
                <a:ea typeface="Trebuchet MS" pitchFamily="34" charset="-122"/>
                <a:cs typeface="Trebuchet MS" pitchFamily="34" charset="-120"/>
              </a:rPr>
              <a:t>1</a:t>
            </a:r>
            <a:endParaRPr lang="en-US" sz="1900" dirty="0"/>
          </a:p>
        </p:txBody>
      </p:sp>
      <p:sp>
        <p:nvSpPr>
          <p:cNvPr id="8" name="Text 6"/>
          <p:cNvSpPr/>
          <p:nvPr/>
        </p:nvSpPr>
        <p:spPr>
          <a:xfrm>
            <a:off x="1627632" y="1874520"/>
            <a:ext cx="9692640" cy="384048"/>
          </a:xfrm>
          <a:prstGeom prst="rect">
            <a:avLst/>
          </a:prstGeom>
          <a:noFill/>
          <a:ln/>
        </p:spPr>
        <p:txBody>
          <a:bodyPr wrap="square" lIns="0" tIns="0" rIns="0" bIns="0" rtlCol="0" anchor="ctr"/>
          <a:lstStyle/>
          <a:p>
            <a:pPr indent="0" marL="0">
              <a:buNone/>
            </a:pPr>
            <a:r>
              <a:rPr lang="en-US" sz="2000" b="1" dirty="0">
                <a:solidFill>
                  <a:srgbClr val="0B2B26"/>
                </a:solidFill>
                <a:latin typeface="Trebuchet MS" pitchFamily="34" charset="0"/>
                <a:ea typeface="Trebuchet MS" pitchFamily="34" charset="-122"/>
                <a:cs typeface="Trebuchet MS" pitchFamily="34" charset="-120"/>
              </a:rPr>
              <a:t>Where the time goes today</a:t>
            </a:r>
            <a:endParaRPr lang="en-US" sz="2000" dirty="0"/>
          </a:p>
        </p:txBody>
      </p:sp>
      <p:sp>
        <p:nvSpPr>
          <p:cNvPr id="9" name="Text 7"/>
          <p:cNvSpPr/>
          <p:nvPr/>
        </p:nvSpPr>
        <p:spPr>
          <a:xfrm>
            <a:off x="1627632" y="2276856"/>
            <a:ext cx="9692640" cy="320040"/>
          </a:xfrm>
          <a:prstGeom prst="rect">
            <a:avLst/>
          </a:prstGeom>
          <a:noFill/>
          <a:ln/>
        </p:spPr>
        <p:txBody>
          <a:bodyPr wrap="square" lIns="0" tIns="0" rIns="0" bIns="0" rtlCol="0" anchor="ctr"/>
          <a:lstStyle/>
          <a:p>
            <a:pPr indent="0" marL="0">
              <a:buNone/>
            </a:pPr>
            <a:r>
              <a:rPr lang="en-US" sz="1400" dirty="0">
                <a:solidFill>
                  <a:srgbClr val="6B6456"/>
                </a:solidFill>
                <a:latin typeface="Calibri" pitchFamily="34" charset="0"/>
                <a:ea typeface="Calibri" pitchFamily="34" charset="-122"/>
                <a:cs typeface="Calibri" pitchFamily="34" charset="-120"/>
              </a:rPr>
              <a:t>The everyday admin that eats your week.</a:t>
            </a:r>
            <a:endParaRPr lang="en-US" sz="1400" dirty="0"/>
          </a:p>
        </p:txBody>
      </p:sp>
      <p:sp>
        <p:nvSpPr>
          <p:cNvPr id="10" name="Shape 8"/>
          <p:cNvSpPr/>
          <p:nvPr/>
        </p:nvSpPr>
        <p:spPr>
          <a:xfrm>
            <a:off x="822960" y="2999232"/>
            <a:ext cx="566928" cy="566928"/>
          </a:xfrm>
          <a:prstGeom prst="ellipse">
            <a:avLst/>
          </a:prstGeom>
          <a:solidFill>
            <a:srgbClr val="123D36"/>
          </a:solidFill>
          <a:ln/>
        </p:spPr>
      </p:sp>
      <p:sp>
        <p:nvSpPr>
          <p:cNvPr id="11" name="Text 9"/>
          <p:cNvSpPr/>
          <p:nvPr/>
        </p:nvSpPr>
        <p:spPr>
          <a:xfrm>
            <a:off x="822960" y="2999232"/>
            <a:ext cx="566928" cy="566928"/>
          </a:xfrm>
          <a:prstGeom prst="rect">
            <a:avLst/>
          </a:prstGeom>
          <a:noFill/>
          <a:ln/>
        </p:spPr>
        <p:txBody>
          <a:bodyPr wrap="square" lIns="0" tIns="0" rIns="0" bIns="0" rtlCol="0" anchor="ctr"/>
          <a:lstStyle/>
          <a:p>
            <a:pPr algn="ctr" indent="0" marL="0">
              <a:buNone/>
            </a:pPr>
            <a:r>
              <a:rPr lang="en-US" sz="1900" b="1" dirty="0">
                <a:solidFill>
                  <a:srgbClr val="97742A"/>
                </a:solidFill>
                <a:latin typeface="Trebuchet MS" pitchFamily="34" charset="0"/>
                <a:ea typeface="Trebuchet MS" pitchFamily="34" charset="-122"/>
                <a:cs typeface="Trebuchet MS" pitchFamily="34" charset="-120"/>
              </a:rPr>
              <a:t>2</a:t>
            </a:r>
            <a:endParaRPr lang="en-US" sz="1900" dirty="0"/>
          </a:p>
        </p:txBody>
      </p:sp>
      <p:sp>
        <p:nvSpPr>
          <p:cNvPr id="12" name="Text 10"/>
          <p:cNvSpPr/>
          <p:nvPr/>
        </p:nvSpPr>
        <p:spPr>
          <a:xfrm>
            <a:off x="1627632" y="2944368"/>
            <a:ext cx="9692640" cy="384048"/>
          </a:xfrm>
          <a:prstGeom prst="rect">
            <a:avLst/>
          </a:prstGeom>
          <a:noFill/>
          <a:ln/>
        </p:spPr>
        <p:txBody>
          <a:bodyPr wrap="square" lIns="0" tIns="0" rIns="0" bIns="0" rtlCol="0" anchor="ctr"/>
          <a:lstStyle/>
          <a:p>
            <a:pPr indent="0" marL="0">
              <a:buNone/>
            </a:pPr>
            <a:r>
              <a:rPr lang="en-US" sz="2000" b="1" dirty="0">
                <a:solidFill>
                  <a:srgbClr val="0B2B26"/>
                </a:solidFill>
                <a:latin typeface="Trebuchet MS" pitchFamily="34" charset="0"/>
                <a:ea typeface="Trebuchet MS" pitchFamily="34" charset="-122"/>
                <a:cs typeface="Trebuchet MS" pitchFamily="34" charset="-120"/>
              </a:rPr>
              <a:t>Sunday, handled</a:t>
            </a:r>
            <a:endParaRPr lang="en-US" sz="2000" dirty="0"/>
          </a:p>
        </p:txBody>
      </p:sp>
      <p:sp>
        <p:nvSpPr>
          <p:cNvPr id="13" name="Text 11"/>
          <p:cNvSpPr/>
          <p:nvPr/>
        </p:nvSpPr>
        <p:spPr>
          <a:xfrm>
            <a:off x="1627632" y="3346704"/>
            <a:ext cx="9692640" cy="320040"/>
          </a:xfrm>
          <a:prstGeom prst="rect">
            <a:avLst/>
          </a:prstGeom>
          <a:noFill/>
          <a:ln/>
        </p:spPr>
        <p:txBody>
          <a:bodyPr wrap="square" lIns="0" tIns="0" rIns="0" bIns="0" rtlCol="0" anchor="ctr"/>
          <a:lstStyle/>
          <a:p>
            <a:pPr indent="0" marL="0">
              <a:buNone/>
            </a:pPr>
            <a:r>
              <a:rPr lang="en-US" sz="1400" dirty="0">
                <a:solidFill>
                  <a:srgbClr val="6B6456"/>
                </a:solidFill>
                <a:latin typeface="Calibri" pitchFamily="34" charset="0"/>
                <a:ea typeface="Calibri" pitchFamily="34" charset="-122"/>
                <a:cs typeface="Calibri" pitchFamily="34" charset="-120"/>
              </a:rPr>
              <a:t>Check-in, offering, and follow-up — live.</a:t>
            </a:r>
            <a:endParaRPr lang="en-US" sz="1400" dirty="0"/>
          </a:p>
        </p:txBody>
      </p:sp>
      <p:sp>
        <p:nvSpPr>
          <p:cNvPr id="14" name="Shape 12"/>
          <p:cNvSpPr/>
          <p:nvPr/>
        </p:nvSpPr>
        <p:spPr>
          <a:xfrm>
            <a:off x="822960" y="4069080"/>
            <a:ext cx="566928" cy="566928"/>
          </a:xfrm>
          <a:prstGeom prst="ellipse">
            <a:avLst/>
          </a:prstGeom>
          <a:solidFill>
            <a:srgbClr val="123D36"/>
          </a:solidFill>
          <a:ln/>
        </p:spPr>
      </p:sp>
      <p:sp>
        <p:nvSpPr>
          <p:cNvPr id="15" name="Text 13"/>
          <p:cNvSpPr/>
          <p:nvPr/>
        </p:nvSpPr>
        <p:spPr>
          <a:xfrm>
            <a:off x="822960" y="4069080"/>
            <a:ext cx="566928" cy="566928"/>
          </a:xfrm>
          <a:prstGeom prst="rect">
            <a:avLst/>
          </a:prstGeom>
          <a:noFill/>
          <a:ln/>
        </p:spPr>
        <p:txBody>
          <a:bodyPr wrap="square" lIns="0" tIns="0" rIns="0" bIns="0" rtlCol="0" anchor="ctr"/>
          <a:lstStyle/>
          <a:p>
            <a:pPr algn="ctr" indent="0" marL="0">
              <a:buNone/>
            </a:pPr>
            <a:r>
              <a:rPr lang="en-US" sz="1900" b="1" dirty="0">
                <a:solidFill>
                  <a:srgbClr val="97742A"/>
                </a:solidFill>
                <a:latin typeface="Trebuchet MS" pitchFamily="34" charset="0"/>
                <a:ea typeface="Trebuchet MS" pitchFamily="34" charset="-122"/>
                <a:cs typeface="Trebuchet MS" pitchFamily="34" charset="-120"/>
              </a:rPr>
              <a:t>3</a:t>
            </a:r>
            <a:endParaRPr lang="en-US" sz="1900" dirty="0"/>
          </a:p>
        </p:txBody>
      </p:sp>
      <p:sp>
        <p:nvSpPr>
          <p:cNvPr id="16" name="Text 14"/>
          <p:cNvSpPr/>
          <p:nvPr/>
        </p:nvSpPr>
        <p:spPr>
          <a:xfrm>
            <a:off x="1627632" y="4014216"/>
            <a:ext cx="9692640" cy="384048"/>
          </a:xfrm>
          <a:prstGeom prst="rect">
            <a:avLst/>
          </a:prstGeom>
          <a:noFill/>
          <a:ln/>
        </p:spPr>
        <p:txBody>
          <a:bodyPr wrap="square" lIns="0" tIns="0" rIns="0" bIns="0" rtlCol="0" anchor="ctr"/>
          <a:lstStyle/>
          <a:p>
            <a:pPr indent="0" marL="0">
              <a:buNone/>
            </a:pPr>
            <a:r>
              <a:rPr lang="en-US" sz="2000" b="1" dirty="0">
                <a:solidFill>
                  <a:srgbClr val="0B2B26"/>
                </a:solidFill>
                <a:latin typeface="Trebuchet MS" pitchFamily="34" charset="0"/>
                <a:ea typeface="Trebuchet MS" pitchFamily="34" charset="-122"/>
                <a:cs typeface="Trebuchet MS" pitchFamily="34" charset="-120"/>
              </a:rPr>
              <a:t>What you'll see on Monday</a:t>
            </a:r>
            <a:endParaRPr lang="en-US" sz="2000" dirty="0"/>
          </a:p>
        </p:txBody>
      </p:sp>
      <p:sp>
        <p:nvSpPr>
          <p:cNvPr id="17" name="Text 15"/>
          <p:cNvSpPr/>
          <p:nvPr/>
        </p:nvSpPr>
        <p:spPr>
          <a:xfrm>
            <a:off x="1627632" y="4416552"/>
            <a:ext cx="9692640" cy="320040"/>
          </a:xfrm>
          <a:prstGeom prst="rect">
            <a:avLst/>
          </a:prstGeom>
          <a:noFill/>
          <a:ln/>
        </p:spPr>
        <p:txBody>
          <a:bodyPr wrap="square" lIns="0" tIns="0" rIns="0" bIns="0" rtlCol="0" anchor="ctr"/>
          <a:lstStyle/>
          <a:p>
            <a:pPr indent="0" marL="0">
              <a:buNone/>
            </a:pPr>
            <a:r>
              <a:rPr lang="en-US" sz="1400" dirty="0">
                <a:solidFill>
                  <a:srgbClr val="6B6456"/>
                </a:solidFill>
                <a:latin typeface="Calibri" pitchFamily="34" charset="0"/>
                <a:ea typeface="Calibri" pitchFamily="34" charset="-122"/>
                <a:cs typeface="Calibri" pitchFamily="34" charset="-120"/>
              </a:rPr>
              <a:t>The numbers your leadership actually asks for.</a:t>
            </a:r>
            <a:endParaRPr lang="en-US" sz="1400" dirty="0"/>
          </a:p>
        </p:txBody>
      </p:sp>
      <p:sp>
        <p:nvSpPr>
          <p:cNvPr id="18" name="Shape 16"/>
          <p:cNvSpPr/>
          <p:nvPr/>
        </p:nvSpPr>
        <p:spPr>
          <a:xfrm>
            <a:off x="822960" y="5138928"/>
            <a:ext cx="566928" cy="566928"/>
          </a:xfrm>
          <a:prstGeom prst="ellipse">
            <a:avLst/>
          </a:prstGeom>
          <a:solidFill>
            <a:srgbClr val="123D36"/>
          </a:solidFill>
          <a:ln/>
        </p:spPr>
      </p:sp>
      <p:sp>
        <p:nvSpPr>
          <p:cNvPr id="19" name="Text 17"/>
          <p:cNvSpPr/>
          <p:nvPr/>
        </p:nvSpPr>
        <p:spPr>
          <a:xfrm>
            <a:off x="822960" y="5138928"/>
            <a:ext cx="566928" cy="566928"/>
          </a:xfrm>
          <a:prstGeom prst="rect">
            <a:avLst/>
          </a:prstGeom>
          <a:noFill/>
          <a:ln/>
        </p:spPr>
        <p:txBody>
          <a:bodyPr wrap="square" lIns="0" tIns="0" rIns="0" bIns="0" rtlCol="0" anchor="ctr"/>
          <a:lstStyle/>
          <a:p>
            <a:pPr algn="ctr" indent="0" marL="0">
              <a:buNone/>
            </a:pPr>
            <a:r>
              <a:rPr lang="en-US" sz="1900" b="1" dirty="0">
                <a:solidFill>
                  <a:srgbClr val="97742A"/>
                </a:solidFill>
                <a:latin typeface="Trebuchet MS" pitchFamily="34" charset="0"/>
                <a:ea typeface="Trebuchet MS" pitchFamily="34" charset="-122"/>
                <a:cs typeface="Trebuchet MS" pitchFamily="34" charset="-120"/>
              </a:rPr>
              <a:t>4</a:t>
            </a:r>
            <a:endParaRPr lang="en-US" sz="1900" dirty="0"/>
          </a:p>
        </p:txBody>
      </p:sp>
      <p:sp>
        <p:nvSpPr>
          <p:cNvPr id="20" name="Text 18"/>
          <p:cNvSpPr/>
          <p:nvPr/>
        </p:nvSpPr>
        <p:spPr>
          <a:xfrm>
            <a:off x="1627632" y="5084064"/>
            <a:ext cx="9692640" cy="384048"/>
          </a:xfrm>
          <a:prstGeom prst="rect">
            <a:avLst/>
          </a:prstGeom>
          <a:noFill/>
          <a:ln/>
        </p:spPr>
        <p:txBody>
          <a:bodyPr wrap="square" lIns="0" tIns="0" rIns="0" bIns="0" rtlCol="0" anchor="ctr"/>
          <a:lstStyle/>
          <a:p>
            <a:pPr indent="0" marL="0">
              <a:buNone/>
            </a:pPr>
            <a:r>
              <a:rPr lang="en-US" sz="2000" b="1" dirty="0">
                <a:solidFill>
                  <a:srgbClr val="0B2B26"/>
                </a:solidFill>
                <a:latin typeface="Trebuchet MS" pitchFamily="34" charset="0"/>
                <a:ea typeface="Trebuchet MS" pitchFamily="34" charset="-122"/>
                <a:cs typeface="Trebuchet MS" pitchFamily="34" charset="-120"/>
              </a:rPr>
              <a:t>Starting is free</a:t>
            </a:r>
            <a:endParaRPr lang="en-US" sz="2000" dirty="0"/>
          </a:p>
        </p:txBody>
      </p:sp>
      <p:sp>
        <p:nvSpPr>
          <p:cNvPr id="21" name="Text 19"/>
          <p:cNvSpPr/>
          <p:nvPr/>
        </p:nvSpPr>
        <p:spPr>
          <a:xfrm>
            <a:off x="1627632" y="5486400"/>
            <a:ext cx="9692640" cy="320040"/>
          </a:xfrm>
          <a:prstGeom prst="rect">
            <a:avLst/>
          </a:prstGeom>
          <a:noFill/>
          <a:ln/>
        </p:spPr>
        <p:txBody>
          <a:bodyPr wrap="square" lIns="0" tIns="0" rIns="0" bIns="0" rtlCol="0" anchor="ctr"/>
          <a:lstStyle/>
          <a:p>
            <a:pPr indent="0" marL="0">
              <a:buNone/>
            </a:pPr>
            <a:r>
              <a:rPr lang="en-US" sz="1400" dirty="0">
                <a:solidFill>
                  <a:srgbClr val="6B6456"/>
                </a:solidFill>
                <a:latin typeface="Calibri" pitchFamily="34" charset="0"/>
                <a:ea typeface="Calibri" pitchFamily="34" charset="-122"/>
                <a:cs typeface="Calibri" pitchFamily="34" charset="-120"/>
              </a:rPr>
              <a:t>No cost until your church outgrows it.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6"/>
        </a:solidFill>
      </p:bgPr>
    </p:bg>
    <p:spTree>
      <p:nvGrpSpPr>
        <p:cNvPr id="1" name=""/>
        <p:cNvGrpSpPr/>
        <p:nvPr/>
      </p:nvGrpSpPr>
      <p:grpSpPr>
        <a:xfrm>
          <a:off x="0" y="0"/>
          <a:ext cx="0" cy="0"/>
          <a:chOff x="0" y="0"/>
          <a:chExt cx="0" cy="0"/>
        </a:xfrm>
      </p:grpSpPr>
      <p:sp>
        <p:nvSpPr>
          <p:cNvPr id="2" name="Shape 0"/>
          <p:cNvSpPr/>
          <p:nvPr/>
        </p:nvSpPr>
        <p:spPr>
          <a:xfrm>
            <a:off x="0" y="0"/>
            <a:ext cx="12191695" cy="1481328"/>
          </a:xfrm>
          <a:prstGeom prst="rect">
            <a:avLst/>
          </a:prstGeom>
          <a:solidFill>
            <a:srgbClr val="0B2B26"/>
          </a:solidFill>
          <a:ln/>
        </p:spPr>
      </p:sp>
      <p:sp>
        <p:nvSpPr>
          <p:cNvPr id="3" name="Shape 1"/>
          <p:cNvSpPr/>
          <p:nvPr/>
        </p:nvSpPr>
        <p:spPr>
          <a:xfrm>
            <a:off x="0" y="1481328"/>
            <a:ext cx="12191695" cy="41148"/>
          </a:xfrm>
          <a:prstGeom prst="rect">
            <a:avLst/>
          </a:prstGeom>
          <a:solidFill>
            <a:srgbClr val="97742A"/>
          </a:solidFill>
          <a:ln/>
        </p:spPr>
      </p:sp>
      <p:sp>
        <p:nvSpPr>
          <p:cNvPr id="4" name="Text 2"/>
          <p:cNvSpPr/>
          <p:nvPr/>
        </p:nvSpPr>
        <p:spPr>
          <a:xfrm>
            <a:off x="685800" y="274320"/>
            <a:ext cx="10789920" cy="274320"/>
          </a:xfrm>
          <a:prstGeom prst="rect">
            <a:avLst/>
          </a:prstGeom>
          <a:noFill/>
          <a:ln/>
        </p:spPr>
        <p:txBody>
          <a:bodyPr wrap="square" rtlCol="0" anchor="ctr"/>
          <a:lstStyle/>
          <a:p>
            <a:pPr indent="0" marL="0">
              <a:buNone/>
            </a:pPr>
            <a:r>
              <a:rPr lang="en-US" sz="1100" b="1" spc="300" kern="0" dirty="0">
                <a:solidFill>
                  <a:srgbClr val="97742A"/>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685800" y="566928"/>
            <a:ext cx="10789920" cy="749808"/>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Your records exist — they're just scattered</a:t>
            </a:r>
            <a:endParaRPr lang="en-US" sz="3400" dirty="0"/>
          </a:p>
        </p:txBody>
      </p:sp>
      <p:sp>
        <p:nvSpPr>
          <p:cNvPr id="6" name="Shape 4"/>
          <p:cNvSpPr/>
          <p:nvPr/>
        </p:nvSpPr>
        <p:spPr>
          <a:xfrm>
            <a:off x="685800" y="224028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7" name="Shape 5"/>
          <p:cNvSpPr/>
          <p:nvPr/>
        </p:nvSpPr>
        <p:spPr>
          <a:xfrm>
            <a:off x="685800" y="2240280"/>
            <a:ext cx="68580" cy="1645920"/>
          </a:xfrm>
          <a:prstGeom prst="rect">
            <a:avLst/>
          </a:prstGeom>
          <a:solidFill>
            <a:srgbClr val="97742A"/>
          </a:solidFill>
          <a:ln/>
        </p:spPr>
      </p:sp>
      <p:sp>
        <p:nvSpPr>
          <p:cNvPr id="8" name="Text 6"/>
          <p:cNvSpPr/>
          <p:nvPr/>
        </p:nvSpPr>
        <p:spPr>
          <a:xfrm>
            <a:off x="978408" y="247802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The membership book</a:t>
            </a:r>
            <a:endParaRPr lang="en-US" sz="1700" dirty="0"/>
          </a:p>
        </p:txBody>
      </p:sp>
      <p:sp>
        <p:nvSpPr>
          <p:cNvPr id="9" name="Text 7"/>
          <p:cNvSpPr/>
          <p:nvPr/>
        </p:nvSpPr>
        <p:spPr>
          <a:xfrm>
            <a:off x="978408" y="286207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One copy. In someone's bag. Rewritten by hand every year.</a:t>
            </a:r>
            <a:endParaRPr lang="en-US" sz="1350" dirty="0"/>
          </a:p>
        </p:txBody>
      </p:sp>
      <p:sp>
        <p:nvSpPr>
          <p:cNvPr id="10" name="Shape 8"/>
          <p:cNvSpPr/>
          <p:nvPr/>
        </p:nvSpPr>
        <p:spPr>
          <a:xfrm>
            <a:off x="6355080" y="224028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6355080" y="2240280"/>
            <a:ext cx="68580" cy="1645920"/>
          </a:xfrm>
          <a:prstGeom prst="rect">
            <a:avLst/>
          </a:prstGeom>
          <a:solidFill>
            <a:srgbClr val="97742A"/>
          </a:solidFill>
          <a:ln/>
        </p:spPr>
      </p:sp>
      <p:sp>
        <p:nvSpPr>
          <p:cNvPr id="12" name="Text 10"/>
          <p:cNvSpPr/>
          <p:nvPr/>
        </p:nvSpPr>
        <p:spPr>
          <a:xfrm>
            <a:off x="6647688" y="247802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A dozen WhatsApp groups</a:t>
            </a:r>
            <a:endParaRPr lang="en-US" sz="1700" dirty="0"/>
          </a:p>
        </p:txBody>
      </p:sp>
      <p:sp>
        <p:nvSpPr>
          <p:cNvPr id="13" name="Text 11"/>
          <p:cNvSpPr/>
          <p:nvPr/>
        </p:nvSpPr>
        <p:spPr>
          <a:xfrm>
            <a:off x="6647688" y="286207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Announcements that half the church never sees.</a:t>
            </a:r>
            <a:endParaRPr lang="en-US" sz="1350" dirty="0"/>
          </a:p>
        </p:txBody>
      </p:sp>
      <p:sp>
        <p:nvSpPr>
          <p:cNvPr id="14" name="Shape 12"/>
          <p:cNvSpPr/>
          <p:nvPr/>
        </p:nvSpPr>
        <p:spPr>
          <a:xfrm>
            <a:off x="685800" y="416052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685800" y="4160520"/>
            <a:ext cx="68580" cy="1645920"/>
          </a:xfrm>
          <a:prstGeom prst="rect">
            <a:avLst/>
          </a:prstGeom>
          <a:solidFill>
            <a:srgbClr val="97742A"/>
          </a:solidFill>
          <a:ln/>
        </p:spPr>
      </p:sp>
      <p:sp>
        <p:nvSpPr>
          <p:cNvPr id="16" name="Text 14"/>
          <p:cNvSpPr/>
          <p:nvPr/>
        </p:nvSpPr>
        <p:spPr>
          <a:xfrm>
            <a:off x="978408" y="439826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The offering notebook</a:t>
            </a:r>
            <a:endParaRPr lang="en-US" sz="1700" dirty="0"/>
          </a:p>
        </p:txBody>
      </p:sp>
      <p:sp>
        <p:nvSpPr>
          <p:cNvPr id="17" name="Text 15"/>
          <p:cNvSpPr/>
          <p:nvPr/>
        </p:nvSpPr>
        <p:spPr>
          <a:xfrm>
            <a:off x="978408" y="478231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Totals that take an evening to add up before every meeting.</a:t>
            </a:r>
            <a:endParaRPr lang="en-US" sz="1350" dirty="0"/>
          </a:p>
        </p:txBody>
      </p:sp>
      <p:sp>
        <p:nvSpPr>
          <p:cNvPr id="18" name="Shape 16"/>
          <p:cNvSpPr/>
          <p:nvPr/>
        </p:nvSpPr>
        <p:spPr>
          <a:xfrm>
            <a:off x="6355080" y="416052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9" name="Shape 17"/>
          <p:cNvSpPr/>
          <p:nvPr/>
        </p:nvSpPr>
        <p:spPr>
          <a:xfrm>
            <a:off x="6355080" y="4160520"/>
            <a:ext cx="68580" cy="1645920"/>
          </a:xfrm>
          <a:prstGeom prst="rect">
            <a:avLst/>
          </a:prstGeom>
          <a:solidFill>
            <a:srgbClr val="97742A"/>
          </a:solidFill>
          <a:ln/>
        </p:spPr>
      </p:sp>
      <p:sp>
        <p:nvSpPr>
          <p:cNvPr id="20" name="Text 18"/>
          <p:cNvSpPr/>
          <p:nvPr/>
        </p:nvSpPr>
        <p:spPr>
          <a:xfrm>
            <a:off x="6647688" y="439826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Nobody's follow-up list</a:t>
            </a:r>
            <a:endParaRPr lang="en-US" sz="1700" dirty="0"/>
          </a:p>
        </p:txBody>
      </p:sp>
      <p:sp>
        <p:nvSpPr>
          <p:cNvPr id="21" name="Text 19"/>
          <p:cNvSpPr/>
          <p:nvPr/>
        </p:nvSpPr>
        <p:spPr>
          <a:xfrm>
            <a:off x="6647688" y="478231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The first-time visitor from three Sundays ago. Never called.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B26"/>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97742A"/>
          </a:solidFill>
          <a:ln/>
        </p:spPr>
      </p:sp>
      <p:sp>
        <p:nvSpPr>
          <p:cNvPr id="3" name="Text 1"/>
          <p:cNvSpPr/>
          <p:nvPr/>
        </p:nvSpPr>
        <p:spPr>
          <a:xfrm>
            <a:off x="685800" y="566928"/>
            <a:ext cx="10789920" cy="274320"/>
          </a:xfrm>
          <a:prstGeom prst="rect">
            <a:avLst/>
          </a:prstGeom>
          <a:noFill/>
          <a:ln/>
        </p:spPr>
        <p:txBody>
          <a:bodyPr wrap="square" rtlCol="0" anchor="ctr"/>
          <a:lstStyle/>
          <a:p>
            <a:pPr indent="0" marL="0">
              <a:buNone/>
            </a:pPr>
            <a:r>
              <a:rPr lang="en-US" sz="1100" b="1" spc="300" kern="0" dirty="0">
                <a:solidFill>
                  <a:srgbClr val="97742A"/>
                </a:solidFill>
                <a:latin typeface="Calibri" pitchFamily="34" charset="0"/>
                <a:ea typeface="Calibri" pitchFamily="34" charset="-122"/>
                <a:cs typeface="Calibri" pitchFamily="34" charset="-120"/>
              </a:rPr>
              <a:t>EVERYTHING IN ONE PLACE</a:t>
            </a:r>
            <a:endParaRPr lang="en-US" sz="1100" dirty="0"/>
          </a:p>
        </p:txBody>
      </p:sp>
      <p:sp>
        <p:nvSpPr>
          <p:cNvPr id="4" name="Text 2"/>
          <p:cNvSpPr/>
          <p:nvPr/>
        </p:nvSpPr>
        <p:spPr>
          <a:xfrm>
            <a:off x="685800" y="896112"/>
            <a:ext cx="10789920" cy="685800"/>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One login. Your whole church.</a:t>
            </a:r>
            <a:endParaRPr lang="en-US" sz="3400" dirty="0"/>
          </a:p>
        </p:txBody>
      </p:sp>
      <p:sp>
        <p:nvSpPr>
          <p:cNvPr id="5" name="Shape 3"/>
          <p:cNvSpPr/>
          <p:nvPr/>
        </p:nvSpPr>
        <p:spPr>
          <a:xfrm>
            <a:off x="685800" y="2148840"/>
            <a:ext cx="3401568" cy="1572768"/>
          </a:xfrm>
          <a:prstGeom prst="rect">
            <a:avLst/>
          </a:prstGeom>
          <a:solidFill>
            <a:srgbClr val="123D36"/>
          </a:solidFill>
          <a:ln w="12700">
            <a:solidFill>
              <a:srgbClr val="26514A"/>
            </a:solidFill>
            <a:prstDash val="solid"/>
          </a:ln>
        </p:spPr>
      </p:sp>
      <p:sp>
        <p:nvSpPr>
          <p:cNvPr id="6" name="Shape 4"/>
          <p:cNvSpPr/>
          <p:nvPr/>
        </p:nvSpPr>
        <p:spPr>
          <a:xfrm>
            <a:off x="685800" y="2148840"/>
            <a:ext cx="3401568" cy="54864"/>
          </a:xfrm>
          <a:prstGeom prst="rect">
            <a:avLst/>
          </a:prstGeom>
          <a:solidFill>
            <a:srgbClr val="97742A"/>
          </a:solidFill>
          <a:ln/>
        </p:spPr>
      </p:sp>
      <p:sp>
        <p:nvSpPr>
          <p:cNvPr id="7" name="Text 5"/>
          <p:cNvSpPr/>
          <p:nvPr/>
        </p:nvSpPr>
        <p:spPr>
          <a:xfrm>
            <a:off x="978408" y="2404872"/>
            <a:ext cx="2834640" cy="384048"/>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People</a:t>
            </a:r>
            <a:endParaRPr lang="en-US" sz="1900" dirty="0"/>
          </a:p>
        </p:txBody>
      </p:sp>
      <p:sp>
        <p:nvSpPr>
          <p:cNvPr id="8" name="Text 6"/>
          <p:cNvSpPr/>
          <p:nvPr/>
        </p:nvSpPr>
        <p:spPr>
          <a:xfrm>
            <a:off x="978408" y="2825496"/>
            <a:ext cx="2880360" cy="777240"/>
          </a:xfrm>
          <a:prstGeom prst="rect">
            <a:avLst/>
          </a:prstGeom>
          <a:noFill/>
          <a:ln/>
        </p:spPr>
        <p:txBody>
          <a:bodyPr wrap="square" lIns="0" tIns="0" rIns="0" bIns="0" rtlCol="0" anchor="t"/>
          <a:lstStyle/>
          <a:p>
            <a:pPr indent="0" marL="0">
              <a:lnSpc>
                <a:spcPts val="1700"/>
              </a:lnSpc>
              <a:buNone/>
            </a:pPr>
            <a:r>
              <a:rPr lang="en-US" sz="1250" dirty="0">
                <a:solidFill>
                  <a:srgbClr val="AFC2BA"/>
                </a:solidFill>
                <a:latin typeface="Calibri" pitchFamily="34" charset="0"/>
                <a:ea typeface="Calibri" pitchFamily="34" charset="-122"/>
                <a:cs typeface="Calibri" pitchFamily="34" charset="-120"/>
              </a:rPr>
              <a:t>Every member, photo, family and department</a:t>
            </a:r>
            <a:endParaRPr lang="en-US" sz="1250" dirty="0"/>
          </a:p>
        </p:txBody>
      </p:sp>
      <p:sp>
        <p:nvSpPr>
          <p:cNvPr id="9" name="Shape 7"/>
          <p:cNvSpPr/>
          <p:nvPr/>
        </p:nvSpPr>
        <p:spPr>
          <a:xfrm>
            <a:off x="4361688" y="2148840"/>
            <a:ext cx="3401568" cy="1572768"/>
          </a:xfrm>
          <a:prstGeom prst="rect">
            <a:avLst/>
          </a:prstGeom>
          <a:solidFill>
            <a:srgbClr val="123D36"/>
          </a:solidFill>
          <a:ln w="12700">
            <a:solidFill>
              <a:srgbClr val="26514A"/>
            </a:solidFill>
            <a:prstDash val="solid"/>
          </a:ln>
        </p:spPr>
      </p:sp>
      <p:sp>
        <p:nvSpPr>
          <p:cNvPr id="10" name="Shape 8"/>
          <p:cNvSpPr/>
          <p:nvPr/>
        </p:nvSpPr>
        <p:spPr>
          <a:xfrm>
            <a:off x="4361688" y="2148840"/>
            <a:ext cx="3401568" cy="54864"/>
          </a:xfrm>
          <a:prstGeom prst="rect">
            <a:avLst/>
          </a:prstGeom>
          <a:solidFill>
            <a:srgbClr val="97742A"/>
          </a:solidFill>
          <a:ln/>
        </p:spPr>
      </p:sp>
      <p:sp>
        <p:nvSpPr>
          <p:cNvPr id="11" name="Text 9"/>
          <p:cNvSpPr/>
          <p:nvPr/>
        </p:nvSpPr>
        <p:spPr>
          <a:xfrm>
            <a:off x="4654296" y="2404872"/>
            <a:ext cx="2834640" cy="384048"/>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Giving</a:t>
            </a:r>
            <a:endParaRPr lang="en-US" sz="1900" dirty="0"/>
          </a:p>
        </p:txBody>
      </p:sp>
      <p:sp>
        <p:nvSpPr>
          <p:cNvPr id="12" name="Text 10"/>
          <p:cNvSpPr/>
          <p:nvPr/>
        </p:nvSpPr>
        <p:spPr>
          <a:xfrm>
            <a:off x="4654296" y="2825496"/>
            <a:ext cx="2880360" cy="777240"/>
          </a:xfrm>
          <a:prstGeom prst="rect">
            <a:avLst/>
          </a:prstGeom>
          <a:noFill/>
          <a:ln/>
        </p:spPr>
        <p:txBody>
          <a:bodyPr wrap="square" lIns="0" tIns="0" rIns="0" bIns="0" rtlCol="0" anchor="t"/>
          <a:lstStyle/>
          <a:p>
            <a:pPr indent="0" marL="0">
              <a:lnSpc>
                <a:spcPts val="1700"/>
              </a:lnSpc>
              <a:buNone/>
            </a:pPr>
            <a:r>
              <a:rPr lang="en-US" sz="1250" dirty="0">
                <a:solidFill>
                  <a:srgbClr val="AFC2BA"/>
                </a:solidFill>
                <a:latin typeface="Calibri" pitchFamily="34" charset="0"/>
                <a:ea typeface="Calibri" pitchFamily="34" charset="-122"/>
                <a:cs typeface="Calibri" pitchFamily="34" charset="-120"/>
              </a:rPr>
              <a:t>Tithes, offerings, funds and receipts</a:t>
            </a:r>
            <a:endParaRPr lang="en-US" sz="1250" dirty="0"/>
          </a:p>
        </p:txBody>
      </p:sp>
      <p:sp>
        <p:nvSpPr>
          <p:cNvPr id="13" name="Shape 11"/>
          <p:cNvSpPr/>
          <p:nvPr/>
        </p:nvSpPr>
        <p:spPr>
          <a:xfrm>
            <a:off x="8037576" y="2148840"/>
            <a:ext cx="3401568" cy="1572768"/>
          </a:xfrm>
          <a:prstGeom prst="rect">
            <a:avLst/>
          </a:prstGeom>
          <a:solidFill>
            <a:srgbClr val="123D36"/>
          </a:solidFill>
          <a:ln w="12700">
            <a:solidFill>
              <a:srgbClr val="26514A"/>
            </a:solidFill>
            <a:prstDash val="solid"/>
          </a:ln>
        </p:spPr>
      </p:sp>
      <p:sp>
        <p:nvSpPr>
          <p:cNvPr id="14" name="Shape 12"/>
          <p:cNvSpPr/>
          <p:nvPr/>
        </p:nvSpPr>
        <p:spPr>
          <a:xfrm>
            <a:off x="8037576" y="2148840"/>
            <a:ext cx="3401568" cy="54864"/>
          </a:xfrm>
          <a:prstGeom prst="rect">
            <a:avLst/>
          </a:prstGeom>
          <a:solidFill>
            <a:srgbClr val="97742A"/>
          </a:solidFill>
          <a:ln/>
        </p:spPr>
      </p:sp>
      <p:sp>
        <p:nvSpPr>
          <p:cNvPr id="15" name="Text 13"/>
          <p:cNvSpPr/>
          <p:nvPr/>
        </p:nvSpPr>
        <p:spPr>
          <a:xfrm>
            <a:off x="8330184" y="2404872"/>
            <a:ext cx="2834640" cy="384048"/>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Attendance</a:t>
            </a:r>
            <a:endParaRPr lang="en-US" sz="1900" dirty="0"/>
          </a:p>
        </p:txBody>
      </p:sp>
      <p:sp>
        <p:nvSpPr>
          <p:cNvPr id="16" name="Text 14"/>
          <p:cNvSpPr/>
          <p:nvPr/>
        </p:nvSpPr>
        <p:spPr>
          <a:xfrm>
            <a:off x="8330184" y="2825496"/>
            <a:ext cx="2880360" cy="777240"/>
          </a:xfrm>
          <a:prstGeom prst="rect">
            <a:avLst/>
          </a:prstGeom>
          <a:noFill/>
          <a:ln/>
        </p:spPr>
        <p:txBody>
          <a:bodyPr wrap="square" lIns="0" tIns="0" rIns="0" bIns="0" rtlCol="0" anchor="t"/>
          <a:lstStyle/>
          <a:p>
            <a:pPr indent="0" marL="0">
              <a:lnSpc>
                <a:spcPts val="1700"/>
              </a:lnSpc>
              <a:buNone/>
            </a:pPr>
            <a:r>
              <a:rPr lang="en-US" sz="1250" dirty="0">
                <a:solidFill>
                  <a:srgbClr val="AFC2BA"/>
                </a:solidFill>
                <a:latin typeface="Calibri" pitchFamily="34" charset="0"/>
                <a:ea typeface="Calibri" pitchFamily="34" charset="-122"/>
                <a:cs typeface="Calibri" pitchFamily="34" charset="-120"/>
              </a:rPr>
              <a:t>Who came — counted in seconds</a:t>
            </a:r>
            <a:endParaRPr lang="en-US" sz="1250" dirty="0"/>
          </a:p>
        </p:txBody>
      </p:sp>
      <p:sp>
        <p:nvSpPr>
          <p:cNvPr id="17" name="Shape 15"/>
          <p:cNvSpPr/>
          <p:nvPr/>
        </p:nvSpPr>
        <p:spPr>
          <a:xfrm>
            <a:off x="685800" y="4023360"/>
            <a:ext cx="3401568" cy="1572768"/>
          </a:xfrm>
          <a:prstGeom prst="rect">
            <a:avLst/>
          </a:prstGeom>
          <a:solidFill>
            <a:srgbClr val="123D36"/>
          </a:solidFill>
          <a:ln w="12700">
            <a:solidFill>
              <a:srgbClr val="26514A"/>
            </a:solidFill>
            <a:prstDash val="solid"/>
          </a:ln>
        </p:spPr>
      </p:sp>
      <p:sp>
        <p:nvSpPr>
          <p:cNvPr id="18" name="Shape 16"/>
          <p:cNvSpPr/>
          <p:nvPr/>
        </p:nvSpPr>
        <p:spPr>
          <a:xfrm>
            <a:off x="685800" y="4023360"/>
            <a:ext cx="3401568" cy="54864"/>
          </a:xfrm>
          <a:prstGeom prst="rect">
            <a:avLst/>
          </a:prstGeom>
          <a:solidFill>
            <a:srgbClr val="97742A"/>
          </a:solidFill>
          <a:ln/>
        </p:spPr>
      </p:sp>
      <p:sp>
        <p:nvSpPr>
          <p:cNvPr id="19" name="Text 17"/>
          <p:cNvSpPr/>
          <p:nvPr/>
        </p:nvSpPr>
        <p:spPr>
          <a:xfrm>
            <a:off x="978408" y="4279392"/>
            <a:ext cx="2834640" cy="384048"/>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Events</a:t>
            </a:r>
            <a:endParaRPr lang="en-US" sz="1900" dirty="0"/>
          </a:p>
        </p:txBody>
      </p:sp>
      <p:sp>
        <p:nvSpPr>
          <p:cNvPr id="20" name="Text 18"/>
          <p:cNvSpPr/>
          <p:nvPr/>
        </p:nvSpPr>
        <p:spPr>
          <a:xfrm>
            <a:off x="978408" y="4700016"/>
            <a:ext cx="2880360" cy="777240"/>
          </a:xfrm>
          <a:prstGeom prst="rect">
            <a:avLst/>
          </a:prstGeom>
          <a:noFill/>
          <a:ln/>
        </p:spPr>
        <p:txBody>
          <a:bodyPr wrap="square" lIns="0" tIns="0" rIns="0" bIns="0" rtlCol="0" anchor="t"/>
          <a:lstStyle/>
          <a:p>
            <a:pPr indent="0" marL="0">
              <a:lnSpc>
                <a:spcPts val="1700"/>
              </a:lnSpc>
              <a:buNone/>
            </a:pPr>
            <a:r>
              <a:rPr lang="en-US" sz="1250" dirty="0">
                <a:solidFill>
                  <a:srgbClr val="AFC2BA"/>
                </a:solidFill>
                <a:latin typeface="Calibri" pitchFamily="34" charset="0"/>
                <a:ea typeface="Calibri" pitchFamily="34" charset="-122"/>
                <a:cs typeface="Calibri" pitchFamily="34" charset="-120"/>
              </a:rPr>
              <a:t>Services, camps, registrations</a:t>
            </a:r>
            <a:endParaRPr lang="en-US" sz="1250" dirty="0"/>
          </a:p>
        </p:txBody>
      </p:sp>
      <p:sp>
        <p:nvSpPr>
          <p:cNvPr id="21" name="Shape 19"/>
          <p:cNvSpPr/>
          <p:nvPr/>
        </p:nvSpPr>
        <p:spPr>
          <a:xfrm>
            <a:off x="4361688" y="4023360"/>
            <a:ext cx="3401568" cy="1572768"/>
          </a:xfrm>
          <a:prstGeom prst="rect">
            <a:avLst/>
          </a:prstGeom>
          <a:solidFill>
            <a:srgbClr val="123D36"/>
          </a:solidFill>
          <a:ln w="12700">
            <a:solidFill>
              <a:srgbClr val="26514A"/>
            </a:solidFill>
            <a:prstDash val="solid"/>
          </a:ln>
        </p:spPr>
      </p:sp>
      <p:sp>
        <p:nvSpPr>
          <p:cNvPr id="22" name="Shape 20"/>
          <p:cNvSpPr/>
          <p:nvPr/>
        </p:nvSpPr>
        <p:spPr>
          <a:xfrm>
            <a:off x="4361688" y="4023360"/>
            <a:ext cx="3401568" cy="54864"/>
          </a:xfrm>
          <a:prstGeom prst="rect">
            <a:avLst/>
          </a:prstGeom>
          <a:solidFill>
            <a:srgbClr val="97742A"/>
          </a:solidFill>
          <a:ln/>
        </p:spPr>
      </p:sp>
      <p:sp>
        <p:nvSpPr>
          <p:cNvPr id="23" name="Text 21"/>
          <p:cNvSpPr/>
          <p:nvPr/>
        </p:nvSpPr>
        <p:spPr>
          <a:xfrm>
            <a:off x="4654296" y="4279392"/>
            <a:ext cx="2834640" cy="384048"/>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Messaging</a:t>
            </a:r>
            <a:endParaRPr lang="en-US" sz="1900" dirty="0"/>
          </a:p>
        </p:txBody>
      </p:sp>
      <p:sp>
        <p:nvSpPr>
          <p:cNvPr id="24" name="Text 22"/>
          <p:cNvSpPr/>
          <p:nvPr/>
        </p:nvSpPr>
        <p:spPr>
          <a:xfrm>
            <a:off x="4654296" y="4700016"/>
            <a:ext cx="2880360" cy="777240"/>
          </a:xfrm>
          <a:prstGeom prst="rect">
            <a:avLst/>
          </a:prstGeom>
          <a:noFill/>
          <a:ln/>
        </p:spPr>
        <p:txBody>
          <a:bodyPr wrap="square" lIns="0" tIns="0" rIns="0" bIns="0" rtlCol="0" anchor="t"/>
          <a:lstStyle/>
          <a:p>
            <a:pPr indent="0" marL="0">
              <a:lnSpc>
                <a:spcPts val="1700"/>
              </a:lnSpc>
              <a:buNone/>
            </a:pPr>
            <a:r>
              <a:rPr lang="en-US" sz="1250" dirty="0">
                <a:solidFill>
                  <a:srgbClr val="AFC2BA"/>
                </a:solidFill>
                <a:latin typeface="Calibri" pitchFamily="34" charset="0"/>
                <a:ea typeface="Calibri" pitchFamily="34" charset="-122"/>
                <a:cs typeface="Calibri" pitchFamily="34" charset="-120"/>
              </a:rPr>
              <a:t>SMS your whole church or one person</a:t>
            </a:r>
            <a:endParaRPr lang="en-US" sz="1250" dirty="0"/>
          </a:p>
        </p:txBody>
      </p:sp>
      <p:sp>
        <p:nvSpPr>
          <p:cNvPr id="25" name="Shape 23"/>
          <p:cNvSpPr/>
          <p:nvPr/>
        </p:nvSpPr>
        <p:spPr>
          <a:xfrm>
            <a:off x="8037576" y="4023360"/>
            <a:ext cx="3401568" cy="1572768"/>
          </a:xfrm>
          <a:prstGeom prst="rect">
            <a:avLst/>
          </a:prstGeom>
          <a:solidFill>
            <a:srgbClr val="123D36"/>
          </a:solidFill>
          <a:ln w="12700">
            <a:solidFill>
              <a:srgbClr val="26514A"/>
            </a:solidFill>
            <a:prstDash val="solid"/>
          </a:ln>
        </p:spPr>
      </p:sp>
      <p:sp>
        <p:nvSpPr>
          <p:cNvPr id="26" name="Shape 24"/>
          <p:cNvSpPr/>
          <p:nvPr/>
        </p:nvSpPr>
        <p:spPr>
          <a:xfrm>
            <a:off x="8037576" y="4023360"/>
            <a:ext cx="3401568" cy="54864"/>
          </a:xfrm>
          <a:prstGeom prst="rect">
            <a:avLst/>
          </a:prstGeom>
          <a:solidFill>
            <a:srgbClr val="97742A"/>
          </a:solidFill>
          <a:ln/>
        </p:spPr>
      </p:sp>
      <p:sp>
        <p:nvSpPr>
          <p:cNvPr id="27" name="Text 25"/>
          <p:cNvSpPr/>
          <p:nvPr/>
        </p:nvSpPr>
        <p:spPr>
          <a:xfrm>
            <a:off x="8330184" y="4279392"/>
            <a:ext cx="2834640" cy="384048"/>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Reports</a:t>
            </a:r>
            <a:endParaRPr lang="en-US" sz="1900" dirty="0"/>
          </a:p>
        </p:txBody>
      </p:sp>
      <p:sp>
        <p:nvSpPr>
          <p:cNvPr id="28" name="Text 26"/>
          <p:cNvSpPr/>
          <p:nvPr/>
        </p:nvSpPr>
        <p:spPr>
          <a:xfrm>
            <a:off x="8330184" y="4700016"/>
            <a:ext cx="2880360" cy="777240"/>
          </a:xfrm>
          <a:prstGeom prst="rect">
            <a:avLst/>
          </a:prstGeom>
          <a:noFill/>
          <a:ln/>
        </p:spPr>
        <p:txBody>
          <a:bodyPr wrap="square" lIns="0" tIns="0" rIns="0" bIns="0" rtlCol="0" anchor="t"/>
          <a:lstStyle/>
          <a:p>
            <a:pPr indent="0" marL="0">
              <a:lnSpc>
                <a:spcPts val="1700"/>
              </a:lnSpc>
              <a:buNone/>
            </a:pPr>
            <a:r>
              <a:rPr lang="en-US" sz="1250" dirty="0">
                <a:solidFill>
                  <a:srgbClr val="AFC2BA"/>
                </a:solidFill>
                <a:latin typeface="Calibri" pitchFamily="34" charset="0"/>
                <a:ea typeface="Calibri" pitchFamily="34" charset="-122"/>
                <a:cs typeface="Calibri" pitchFamily="34" charset="-120"/>
              </a:rPr>
              <a:t>Numbers for your board, on demand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6"/>
        </a:solidFill>
      </p:bgPr>
    </p:bg>
    <p:spTree>
      <p:nvGrpSpPr>
        <p:cNvPr id="1" name=""/>
        <p:cNvGrpSpPr/>
        <p:nvPr/>
      </p:nvGrpSpPr>
      <p:grpSpPr>
        <a:xfrm>
          <a:off x="0" y="0"/>
          <a:ext cx="0" cy="0"/>
          <a:chOff x="0" y="0"/>
          <a:chExt cx="0" cy="0"/>
        </a:xfrm>
      </p:grpSpPr>
      <p:sp>
        <p:nvSpPr>
          <p:cNvPr id="2" name="Shape 0"/>
          <p:cNvSpPr/>
          <p:nvPr/>
        </p:nvSpPr>
        <p:spPr>
          <a:xfrm>
            <a:off x="0" y="0"/>
            <a:ext cx="12191695" cy="1481328"/>
          </a:xfrm>
          <a:prstGeom prst="rect">
            <a:avLst/>
          </a:prstGeom>
          <a:solidFill>
            <a:srgbClr val="0B2B26"/>
          </a:solidFill>
          <a:ln/>
        </p:spPr>
      </p:sp>
      <p:sp>
        <p:nvSpPr>
          <p:cNvPr id="3" name="Shape 1"/>
          <p:cNvSpPr/>
          <p:nvPr/>
        </p:nvSpPr>
        <p:spPr>
          <a:xfrm>
            <a:off x="0" y="1481328"/>
            <a:ext cx="12191695" cy="41148"/>
          </a:xfrm>
          <a:prstGeom prst="rect">
            <a:avLst/>
          </a:prstGeom>
          <a:solidFill>
            <a:srgbClr val="97742A"/>
          </a:solidFill>
          <a:ln/>
        </p:spPr>
      </p:sp>
      <p:sp>
        <p:nvSpPr>
          <p:cNvPr id="4" name="Text 2"/>
          <p:cNvSpPr/>
          <p:nvPr/>
        </p:nvSpPr>
        <p:spPr>
          <a:xfrm>
            <a:off x="685800" y="274320"/>
            <a:ext cx="10789920" cy="274320"/>
          </a:xfrm>
          <a:prstGeom prst="rect">
            <a:avLst/>
          </a:prstGeom>
          <a:noFill/>
          <a:ln/>
        </p:spPr>
        <p:txBody>
          <a:bodyPr wrap="square" rtlCol="0" anchor="ctr"/>
          <a:lstStyle/>
          <a:p>
            <a:pPr indent="0" marL="0">
              <a:buNone/>
            </a:pPr>
            <a:r>
              <a:rPr lang="en-US" sz="1100" b="1" spc="300" kern="0" dirty="0">
                <a:solidFill>
                  <a:srgbClr val="97742A"/>
                </a:solidFill>
                <a:latin typeface="Calibri" pitchFamily="34" charset="0"/>
                <a:ea typeface="Calibri" pitchFamily="34" charset="-122"/>
                <a:cs typeface="Calibri" pitchFamily="34" charset="-120"/>
              </a:rPr>
              <a:t>LIVE DEMO · SUNDAY MORNING</a:t>
            </a:r>
            <a:endParaRPr lang="en-US" sz="1100" dirty="0"/>
          </a:p>
        </p:txBody>
      </p:sp>
      <p:sp>
        <p:nvSpPr>
          <p:cNvPr id="5" name="Text 3"/>
          <p:cNvSpPr/>
          <p:nvPr/>
        </p:nvSpPr>
        <p:spPr>
          <a:xfrm>
            <a:off x="685800" y="566928"/>
            <a:ext cx="10789920" cy="749808"/>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Two hundred people through the door</a:t>
            </a:r>
            <a:endParaRPr lang="en-US" sz="3400" dirty="0"/>
          </a:p>
        </p:txBody>
      </p:sp>
      <p:sp>
        <p:nvSpPr>
          <p:cNvPr id="6" name="Shape 4"/>
          <p:cNvSpPr/>
          <p:nvPr/>
        </p:nvSpPr>
        <p:spPr>
          <a:xfrm>
            <a:off x="685800" y="1965960"/>
            <a:ext cx="3401568" cy="205740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7" name="Shape 5"/>
          <p:cNvSpPr/>
          <p:nvPr/>
        </p:nvSpPr>
        <p:spPr>
          <a:xfrm>
            <a:off x="685800" y="1965960"/>
            <a:ext cx="68580" cy="2057400"/>
          </a:xfrm>
          <a:prstGeom prst="rect">
            <a:avLst/>
          </a:prstGeom>
          <a:solidFill>
            <a:srgbClr val="97742A"/>
          </a:solidFill>
          <a:ln/>
        </p:spPr>
      </p:sp>
      <p:sp>
        <p:nvSpPr>
          <p:cNvPr id="8" name="Shape 6"/>
          <p:cNvSpPr/>
          <p:nvPr/>
        </p:nvSpPr>
        <p:spPr>
          <a:xfrm>
            <a:off x="960120" y="2203704"/>
            <a:ext cx="457200" cy="457200"/>
          </a:xfrm>
          <a:prstGeom prst="ellipse">
            <a:avLst/>
          </a:prstGeom>
          <a:solidFill>
            <a:srgbClr val="123D36"/>
          </a:solidFill>
          <a:ln/>
        </p:spPr>
      </p:sp>
      <p:sp>
        <p:nvSpPr>
          <p:cNvPr id="9" name="Text 7"/>
          <p:cNvSpPr/>
          <p:nvPr/>
        </p:nvSpPr>
        <p:spPr>
          <a:xfrm>
            <a:off x="960120" y="2203704"/>
            <a:ext cx="457200" cy="457200"/>
          </a:xfrm>
          <a:prstGeom prst="rect">
            <a:avLst/>
          </a:prstGeom>
          <a:noFill/>
          <a:ln/>
        </p:spPr>
        <p:txBody>
          <a:bodyPr wrap="square" lIns="0" tIns="0" rIns="0" bIns="0" rtlCol="0" anchor="ctr"/>
          <a:lstStyle/>
          <a:p>
            <a:pPr algn="ctr" indent="0" marL="0">
              <a:buNone/>
            </a:pPr>
            <a:r>
              <a:rPr lang="en-US" sz="1600" b="1" dirty="0">
                <a:solidFill>
                  <a:srgbClr val="97742A"/>
                </a:solidFill>
                <a:latin typeface="Trebuchet MS" pitchFamily="34" charset="0"/>
                <a:ea typeface="Trebuchet MS" pitchFamily="34" charset="-122"/>
                <a:cs typeface="Trebuchet MS" pitchFamily="34" charset="-120"/>
              </a:rPr>
              <a:t>1</a:t>
            </a:r>
            <a:endParaRPr lang="en-US" sz="1600" dirty="0"/>
          </a:p>
        </p:txBody>
      </p:sp>
      <p:sp>
        <p:nvSpPr>
          <p:cNvPr id="10" name="Text 8"/>
          <p:cNvSpPr/>
          <p:nvPr/>
        </p:nvSpPr>
        <p:spPr>
          <a:xfrm>
            <a:off x="1554480" y="2203704"/>
            <a:ext cx="2258568"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Open the service</a:t>
            </a:r>
            <a:endParaRPr lang="en-US" sz="1700" dirty="0"/>
          </a:p>
        </p:txBody>
      </p:sp>
      <p:sp>
        <p:nvSpPr>
          <p:cNvPr id="11" name="Text 9"/>
          <p:cNvSpPr/>
          <p:nvPr/>
        </p:nvSpPr>
        <p:spPr>
          <a:xfrm>
            <a:off x="1554480" y="2587752"/>
            <a:ext cx="2258568" cy="123444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One tap creates today's service and opens check-in.</a:t>
            </a:r>
            <a:endParaRPr lang="en-US" sz="1350" dirty="0"/>
          </a:p>
        </p:txBody>
      </p:sp>
      <p:sp>
        <p:nvSpPr>
          <p:cNvPr id="12" name="Shape 10"/>
          <p:cNvSpPr/>
          <p:nvPr/>
        </p:nvSpPr>
        <p:spPr>
          <a:xfrm>
            <a:off x="4361688" y="1965960"/>
            <a:ext cx="3401568" cy="205740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3" name="Shape 11"/>
          <p:cNvSpPr/>
          <p:nvPr/>
        </p:nvSpPr>
        <p:spPr>
          <a:xfrm>
            <a:off x="4361688" y="1965960"/>
            <a:ext cx="68580" cy="2057400"/>
          </a:xfrm>
          <a:prstGeom prst="rect">
            <a:avLst/>
          </a:prstGeom>
          <a:solidFill>
            <a:srgbClr val="97742A"/>
          </a:solidFill>
          <a:ln/>
        </p:spPr>
      </p:sp>
      <p:sp>
        <p:nvSpPr>
          <p:cNvPr id="14" name="Shape 12"/>
          <p:cNvSpPr/>
          <p:nvPr/>
        </p:nvSpPr>
        <p:spPr>
          <a:xfrm>
            <a:off x="4636008" y="2203704"/>
            <a:ext cx="457200" cy="457200"/>
          </a:xfrm>
          <a:prstGeom prst="ellipse">
            <a:avLst/>
          </a:prstGeom>
          <a:solidFill>
            <a:srgbClr val="123D36"/>
          </a:solidFill>
          <a:ln/>
        </p:spPr>
      </p:sp>
      <p:sp>
        <p:nvSpPr>
          <p:cNvPr id="15" name="Text 13"/>
          <p:cNvSpPr/>
          <p:nvPr/>
        </p:nvSpPr>
        <p:spPr>
          <a:xfrm>
            <a:off x="4636008" y="2203704"/>
            <a:ext cx="457200" cy="457200"/>
          </a:xfrm>
          <a:prstGeom prst="rect">
            <a:avLst/>
          </a:prstGeom>
          <a:noFill/>
          <a:ln/>
        </p:spPr>
        <p:txBody>
          <a:bodyPr wrap="square" lIns="0" tIns="0" rIns="0" bIns="0" rtlCol="0" anchor="ctr"/>
          <a:lstStyle/>
          <a:p>
            <a:pPr algn="ctr" indent="0" marL="0">
              <a:buNone/>
            </a:pPr>
            <a:r>
              <a:rPr lang="en-US" sz="1600" b="1" dirty="0">
                <a:solidFill>
                  <a:srgbClr val="97742A"/>
                </a:solidFill>
                <a:latin typeface="Trebuchet MS" pitchFamily="34" charset="0"/>
                <a:ea typeface="Trebuchet MS" pitchFamily="34" charset="-122"/>
                <a:cs typeface="Trebuchet MS" pitchFamily="34" charset="-120"/>
              </a:rPr>
              <a:t>2</a:t>
            </a:r>
            <a:endParaRPr lang="en-US" sz="1600" dirty="0"/>
          </a:p>
        </p:txBody>
      </p:sp>
      <p:sp>
        <p:nvSpPr>
          <p:cNvPr id="16" name="Text 14"/>
          <p:cNvSpPr/>
          <p:nvPr/>
        </p:nvSpPr>
        <p:spPr>
          <a:xfrm>
            <a:off x="5230368" y="2203704"/>
            <a:ext cx="2258568"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Scan or search</a:t>
            </a:r>
            <a:endParaRPr lang="en-US" sz="1700" dirty="0"/>
          </a:p>
        </p:txBody>
      </p:sp>
      <p:sp>
        <p:nvSpPr>
          <p:cNvPr id="17" name="Text 15"/>
          <p:cNvSpPr/>
          <p:nvPr/>
        </p:nvSpPr>
        <p:spPr>
          <a:xfrm>
            <a:off x="5230368" y="2587752"/>
            <a:ext cx="2258568" cy="123444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Members scan a QR code, or an usher types a name.</a:t>
            </a:r>
            <a:endParaRPr lang="en-US" sz="1350" dirty="0"/>
          </a:p>
        </p:txBody>
      </p:sp>
      <p:sp>
        <p:nvSpPr>
          <p:cNvPr id="18" name="Shape 16"/>
          <p:cNvSpPr/>
          <p:nvPr/>
        </p:nvSpPr>
        <p:spPr>
          <a:xfrm>
            <a:off x="8037576" y="1965960"/>
            <a:ext cx="3401568" cy="205740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9" name="Shape 17"/>
          <p:cNvSpPr/>
          <p:nvPr/>
        </p:nvSpPr>
        <p:spPr>
          <a:xfrm>
            <a:off x="8037576" y="1965960"/>
            <a:ext cx="68580" cy="2057400"/>
          </a:xfrm>
          <a:prstGeom prst="rect">
            <a:avLst/>
          </a:prstGeom>
          <a:solidFill>
            <a:srgbClr val="97742A"/>
          </a:solidFill>
          <a:ln/>
        </p:spPr>
      </p:sp>
      <p:sp>
        <p:nvSpPr>
          <p:cNvPr id="20" name="Shape 18"/>
          <p:cNvSpPr/>
          <p:nvPr/>
        </p:nvSpPr>
        <p:spPr>
          <a:xfrm>
            <a:off x="8311896" y="2203704"/>
            <a:ext cx="457200" cy="457200"/>
          </a:xfrm>
          <a:prstGeom prst="ellipse">
            <a:avLst/>
          </a:prstGeom>
          <a:solidFill>
            <a:srgbClr val="123D36"/>
          </a:solidFill>
          <a:ln/>
        </p:spPr>
      </p:sp>
      <p:sp>
        <p:nvSpPr>
          <p:cNvPr id="21" name="Text 19"/>
          <p:cNvSpPr/>
          <p:nvPr/>
        </p:nvSpPr>
        <p:spPr>
          <a:xfrm>
            <a:off x="8311896" y="2203704"/>
            <a:ext cx="457200" cy="457200"/>
          </a:xfrm>
          <a:prstGeom prst="rect">
            <a:avLst/>
          </a:prstGeom>
          <a:noFill/>
          <a:ln/>
        </p:spPr>
        <p:txBody>
          <a:bodyPr wrap="square" lIns="0" tIns="0" rIns="0" bIns="0" rtlCol="0" anchor="ctr"/>
          <a:lstStyle/>
          <a:p>
            <a:pPr algn="ctr" indent="0" marL="0">
              <a:buNone/>
            </a:pPr>
            <a:r>
              <a:rPr lang="en-US" sz="1600" b="1" dirty="0">
                <a:solidFill>
                  <a:srgbClr val="97742A"/>
                </a:solidFill>
                <a:latin typeface="Trebuchet MS" pitchFamily="34" charset="0"/>
                <a:ea typeface="Trebuchet MS" pitchFamily="34" charset="-122"/>
                <a:cs typeface="Trebuchet MS" pitchFamily="34" charset="-120"/>
              </a:rPr>
              <a:t>3</a:t>
            </a:r>
            <a:endParaRPr lang="en-US" sz="1600" dirty="0"/>
          </a:p>
        </p:txBody>
      </p:sp>
      <p:sp>
        <p:nvSpPr>
          <p:cNvPr id="22" name="Text 20"/>
          <p:cNvSpPr/>
          <p:nvPr/>
        </p:nvSpPr>
        <p:spPr>
          <a:xfrm>
            <a:off x="8906256" y="2203704"/>
            <a:ext cx="2258568"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Instantly counted</a:t>
            </a:r>
            <a:endParaRPr lang="en-US" sz="1700" dirty="0"/>
          </a:p>
        </p:txBody>
      </p:sp>
      <p:sp>
        <p:nvSpPr>
          <p:cNvPr id="23" name="Text 21"/>
          <p:cNvSpPr/>
          <p:nvPr/>
        </p:nvSpPr>
        <p:spPr>
          <a:xfrm>
            <a:off x="8906256" y="2587752"/>
            <a:ext cx="2258568" cy="123444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The name turns green. Nobody gets counted twice.</a:t>
            </a:r>
            <a:endParaRPr lang="en-US" sz="1350" dirty="0"/>
          </a:p>
        </p:txBody>
      </p:sp>
      <p:sp>
        <p:nvSpPr>
          <p:cNvPr id="24" name="Shape 22"/>
          <p:cNvSpPr/>
          <p:nvPr/>
        </p:nvSpPr>
        <p:spPr>
          <a:xfrm>
            <a:off x="685800" y="4526280"/>
            <a:ext cx="10817352" cy="1371600"/>
          </a:xfrm>
          <a:prstGeom prst="rect">
            <a:avLst/>
          </a:prstGeom>
          <a:solidFill>
            <a:srgbClr val="FFFFFF"/>
          </a:solidFill>
          <a:ln w="12700">
            <a:solidFill>
              <a:srgbClr val="E0D9C8"/>
            </a:solidFill>
            <a:prstDash val="solid"/>
          </a:ln>
        </p:spPr>
      </p:sp>
      <p:sp>
        <p:nvSpPr>
          <p:cNvPr id="25" name="Shape 23"/>
          <p:cNvSpPr/>
          <p:nvPr/>
        </p:nvSpPr>
        <p:spPr>
          <a:xfrm>
            <a:off x="685800" y="4526280"/>
            <a:ext cx="68580" cy="1371600"/>
          </a:xfrm>
          <a:prstGeom prst="rect">
            <a:avLst/>
          </a:prstGeom>
          <a:solidFill>
            <a:srgbClr val="97742A"/>
          </a:solidFill>
          <a:ln/>
        </p:spPr>
      </p:sp>
      <p:sp>
        <p:nvSpPr>
          <p:cNvPr id="26" name="Text 24"/>
          <p:cNvSpPr/>
          <p:nvPr/>
        </p:nvSpPr>
        <p:spPr>
          <a:xfrm>
            <a:off x="1051560" y="4754880"/>
            <a:ext cx="10058400" cy="384048"/>
          </a:xfrm>
          <a:prstGeom prst="rect">
            <a:avLst/>
          </a:prstGeom>
          <a:noFill/>
          <a:ln/>
        </p:spPr>
        <p:txBody>
          <a:bodyPr wrap="square" lIns="0" tIns="0" rIns="0" bIns="0" rtlCol="0" anchor="ctr"/>
          <a:lstStyle/>
          <a:p>
            <a:pPr indent="0" marL="0">
              <a:buNone/>
            </a:pPr>
            <a:r>
              <a:rPr lang="en-US" sz="1800" b="1" dirty="0">
                <a:solidFill>
                  <a:srgbClr val="0B2B26"/>
                </a:solidFill>
                <a:latin typeface="Trebuchet MS" pitchFamily="34" charset="0"/>
                <a:ea typeface="Trebuchet MS" pitchFamily="34" charset="-122"/>
                <a:cs typeface="Trebuchet MS" pitchFamily="34" charset="-120"/>
              </a:rPr>
              <a:t>Ask him: “How long does your headcount take on a normal Sunday?”</a:t>
            </a:r>
            <a:endParaRPr lang="en-US" sz="1800" dirty="0"/>
          </a:p>
        </p:txBody>
      </p:sp>
      <p:sp>
        <p:nvSpPr>
          <p:cNvPr id="27" name="Text 25"/>
          <p:cNvSpPr/>
          <p:nvPr/>
        </p:nvSpPr>
        <p:spPr>
          <a:xfrm>
            <a:off x="1051560" y="5193792"/>
            <a:ext cx="10058400" cy="457200"/>
          </a:xfrm>
          <a:prstGeom prst="rect">
            <a:avLst/>
          </a:prstGeom>
          <a:noFill/>
          <a:ln/>
        </p:spPr>
        <p:txBody>
          <a:bodyPr wrap="square" lIns="0" tIns="0" rIns="0" bIns="0" rtlCol="0" anchor="ctr"/>
          <a:lstStyle/>
          <a:p>
            <a:pPr indent="0" marL="0">
              <a:buNone/>
            </a:pPr>
            <a:r>
              <a:rPr lang="en-US" sz="1400" dirty="0">
                <a:solidFill>
                  <a:srgbClr val="6B6456"/>
                </a:solidFill>
                <a:latin typeface="Calibri" pitchFamily="34" charset="0"/>
                <a:ea typeface="Calibri" pitchFamily="34" charset="-122"/>
                <a:cs typeface="Calibri" pitchFamily="34" charset="-120"/>
              </a:rPr>
              <a:t>Whatever he answers, this takes about two seconds per person — and the register writes itself.</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6"/>
        </a:solidFill>
      </p:bgPr>
    </p:bg>
    <p:spTree>
      <p:nvGrpSpPr>
        <p:cNvPr id="1" name=""/>
        <p:cNvGrpSpPr/>
        <p:nvPr/>
      </p:nvGrpSpPr>
      <p:grpSpPr>
        <a:xfrm>
          <a:off x="0" y="0"/>
          <a:ext cx="0" cy="0"/>
          <a:chOff x="0" y="0"/>
          <a:chExt cx="0" cy="0"/>
        </a:xfrm>
      </p:grpSpPr>
      <p:sp>
        <p:nvSpPr>
          <p:cNvPr id="2" name="Shape 0"/>
          <p:cNvSpPr/>
          <p:nvPr/>
        </p:nvSpPr>
        <p:spPr>
          <a:xfrm>
            <a:off x="0" y="0"/>
            <a:ext cx="12191695" cy="1481328"/>
          </a:xfrm>
          <a:prstGeom prst="rect">
            <a:avLst/>
          </a:prstGeom>
          <a:solidFill>
            <a:srgbClr val="0B2B26"/>
          </a:solidFill>
          <a:ln/>
        </p:spPr>
      </p:sp>
      <p:sp>
        <p:nvSpPr>
          <p:cNvPr id="3" name="Shape 1"/>
          <p:cNvSpPr/>
          <p:nvPr/>
        </p:nvSpPr>
        <p:spPr>
          <a:xfrm>
            <a:off x="0" y="1481328"/>
            <a:ext cx="12191695" cy="41148"/>
          </a:xfrm>
          <a:prstGeom prst="rect">
            <a:avLst/>
          </a:prstGeom>
          <a:solidFill>
            <a:srgbClr val="97742A"/>
          </a:solidFill>
          <a:ln/>
        </p:spPr>
      </p:sp>
      <p:sp>
        <p:nvSpPr>
          <p:cNvPr id="4" name="Text 2"/>
          <p:cNvSpPr/>
          <p:nvPr/>
        </p:nvSpPr>
        <p:spPr>
          <a:xfrm>
            <a:off x="685800" y="274320"/>
            <a:ext cx="10789920" cy="274320"/>
          </a:xfrm>
          <a:prstGeom prst="rect">
            <a:avLst/>
          </a:prstGeom>
          <a:noFill/>
          <a:ln/>
        </p:spPr>
        <p:txBody>
          <a:bodyPr wrap="square" rtlCol="0" anchor="ctr"/>
          <a:lstStyle/>
          <a:p>
            <a:pPr indent="0" marL="0">
              <a:buNone/>
            </a:pPr>
            <a:r>
              <a:rPr lang="en-US" sz="1100" b="1" spc="300" kern="0" dirty="0">
                <a:solidFill>
                  <a:srgbClr val="97742A"/>
                </a:solidFill>
                <a:latin typeface="Calibri" pitchFamily="34" charset="0"/>
                <a:ea typeface="Calibri" pitchFamily="34" charset="-122"/>
                <a:cs typeface="Calibri" pitchFamily="34" charset="-120"/>
              </a:rPr>
              <a:t>LIVE DEMO · THE OFFERING</a:t>
            </a:r>
            <a:endParaRPr lang="en-US" sz="1100" dirty="0"/>
          </a:p>
        </p:txBody>
      </p:sp>
      <p:sp>
        <p:nvSpPr>
          <p:cNvPr id="5" name="Text 3"/>
          <p:cNvSpPr/>
          <p:nvPr/>
        </p:nvSpPr>
        <p:spPr>
          <a:xfrm>
            <a:off x="685800" y="566928"/>
            <a:ext cx="10789920" cy="749808"/>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Every offering accounted for, automatically</a:t>
            </a:r>
            <a:endParaRPr lang="en-US" sz="3400" dirty="0"/>
          </a:p>
        </p:txBody>
      </p:sp>
      <p:sp>
        <p:nvSpPr>
          <p:cNvPr id="6" name="Shape 4"/>
          <p:cNvSpPr/>
          <p:nvPr/>
        </p:nvSpPr>
        <p:spPr>
          <a:xfrm>
            <a:off x="685800" y="224028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7" name="Shape 5"/>
          <p:cNvSpPr/>
          <p:nvPr/>
        </p:nvSpPr>
        <p:spPr>
          <a:xfrm>
            <a:off x="685800" y="2240280"/>
            <a:ext cx="68580" cy="1645920"/>
          </a:xfrm>
          <a:prstGeom prst="rect">
            <a:avLst/>
          </a:prstGeom>
          <a:solidFill>
            <a:srgbClr val="97742A"/>
          </a:solidFill>
          <a:ln/>
        </p:spPr>
      </p:sp>
      <p:sp>
        <p:nvSpPr>
          <p:cNvPr id="8" name="Text 6"/>
          <p:cNvSpPr/>
          <p:nvPr/>
        </p:nvSpPr>
        <p:spPr>
          <a:xfrm>
            <a:off x="978408" y="247802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Members give from their phone</a:t>
            </a:r>
            <a:endParaRPr lang="en-US" sz="1700" dirty="0"/>
          </a:p>
        </p:txBody>
      </p:sp>
      <p:sp>
        <p:nvSpPr>
          <p:cNvPr id="9" name="Text 7"/>
          <p:cNvSpPr/>
          <p:nvPr/>
        </p:nvSpPr>
        <p:spPr>
          <a:xfrm>
            <a:off x="978408" y="286207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Mobile Money or card. The money reaches your account, and the record is created the same second.</a:t>
            </a:r>
            <a:endParaRPr lang="en-US" sz="1350" dirty="0"/>
          </a:p>
        </p:txBody>
      </p:sp>
      <p:sp>
        <p:nvSpPr>
          <p:cNvPr id="10" name="Shape 8"/>
          <p:cNvSpPr/>
          <p:nvPr/>
        </p:nvSpPr>
        <p:spPr>
          <a:xfrm>
            <a:off x="6355080" y="224028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6355080" y="2240280"/>
            <a:ext cx="68580" cy="1645920"/>
          </a:xfrm>
          <a:prstGeom prst="rect">
            <a:avLst/>
          </a:prstGeom>
          <a:solidFill>
            <a:srgbClr val="97742A"/>
          </a:solidFill>
          <a:ln/>
        </p:spPr>
      </p:sp>
      <p:sp>
        <p:nvSpPr>
          <p:cNvPr id="12" name="Text 10"/>
          <p:cNvSpPr/>
          <p:nvPr/>
        </p:nvSpPr>
        <p:spPr>
          <a:xfrm>
            <a:off x="6647688" y="247802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Receipts send themselves</a:t>
            </a:r>
            <a:endParaRPr lang="en-US" sz="1700" dirty="0"/>
          </a:p>
        </p:txBody>
      </p:sp>
      <p:sp>
        <p:nvSpPr>
          <p:cNvPr id="13" name="Text 11"/>
          <p:cNvSpPr/>
          <p:nvPr/>
        </p:nvSpPr>
        <p:spPr>
          <a:xfrm>
            <a:off x="6647688" y="286207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The giver gets an SMS confirmation. No one has to write anything.</a:t>
            </a:r>
            <a:endParaRPr lang="en-US" sz="1350" dirty="0"/>
          </a:p>
        </p:txBody>
      </p:sp>
      <p:sp>
        <p:nvSpPr>
          <p:cNvPr id="14" name="Shape 12"/>
          <p:cNvSpPr/>
          <p:nvPr/>
        </p:nvSpPr>
        <p:spPr>
          <a:xfrm>
            <a:off x="685800" y="416052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685800" y="4160520"/>
            <a:ext cx="68580" cy="1645920"/>
          </a:xfrm>
          <a:prstGeom prst="rect">
            <a:avLst/>
          </a:prstGeom>
          <a:solidFill>
            <a:srgbClr val="97742A"/>
          </a:solidFill>
          <a:ln/>
        </p:spPr>
      </p:sp>
      <p:sp>
        <p:nvSpPr>
          <p:cNvPr id="16" name="Text 14"/>
          <p:cNvSpPr/>
          <p:nvPr/>
        </p:nvSpPr>
        <p:spPr>
          <a:xfrm>
            <a:off x="978408" y="439826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Funds stay separate</a:t>
            </a:r>
            <a:endParaRPr lang="en-US" sz="1700" dirty="0"/>
          </a:p>
        </p:txBody>
      </p:sp>
      <p:sp>
        <p:nvSpPr>
          <p:cNvPr id="17" name="Text 15"/>
          <p:cNvSpPr/>
          <p:nvPr/>
        </p:nvSpPr>
        <p:spPr>
          <a:xfrm>
            <a:off x="978408" y="478231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Tithes, building fund, harvest — each tracked on its own, so nothing is guessed at.</a:t>
            </a:r>
            <a:endParaRPr lang="en-US" sz="1350" dirty="0"/>
          </a:p>
        </p:txBody>
      </p:sp>
      <p:sp>
        <p:nvSpPr>
          <p:cNvPr id="18" name="Shape 16"/>
          <p:cNvSpPr/>
          <p:nvPr/>
        </p:nvSpPr>
        <p:spPr>
          <a:xfrm>
            <a:off x="6355080" y="416052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9" name="Shape 17"/>
          <p:cNvSpPr/>
          <p:nvPr/>
        </p:nvSpPr>
        <p:spPr>
          <a:xfrm>
            <a:off x="6355080" y="4160520"/>
            <a:ext cx="68580" cy="1645920"/>
          </a:xfrm>
          <a:prstGeom prst="rect">
            <a:avLst/>
          </a:prstGeom>
          <a:solidFill>
            <a:srgbClr val="97742A"/>
          </a:solidFill>
          <a:ln/>
        </p:spPr>
      </p:sp>
      <p:sp>
        <p:nvSpPr>
          <p:cNvPr id="20" name="Text 18"/>
          <p:cNvSpPr/>
          <p:nvPr/>
        </p:nvSpPr>
        <p:spPr>
          <a:xfrm>
            <a:off x="6647688" y="439826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Statements in one click</a:t>
            </a:r>
            <a:endParaRPr lang="en-US" sz="1700" dirty="0"/>
          </a:p>
        </p:txBody>
      </p:sp>
      <p:sp>
        <p:nvSpPr>
          <p:cNvPr id="21" name="Text 19"/>
          <p:cNvSpPr/>
          <p:nvPr/>
        </p:nvSpPr>
        <p:spPr>
          <a:xfrm>
            <a:off x="6647688" y="478231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Year-end giving statements per member, ready to print.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6"/>
        </a:solidFill>
      </p:bgPr>
    </p:bg>
    <p:spTree>
      <p:nvGrpSpPr>
        <p:cNvPr id="1" name=""/>
        <p:cNvGrpSpPr/>
        <p:nvPr/>
      </p:nvGrpSpPr>
      <p:grpSpPr>
        <a:xfrm>
          <a:off x="0" y="0"/>
          <a:ext cx="0" cy="0"/>
          <a:chOff x="0" y="0"/>
          <a:chExt cx="0" cy="0"/>
        </a:xfrm>
      </p:grpSpPr>
      <p:sp>
        <p:nvSpPr>
          <p:cNvPr id="2" name="Shape 0"/>
          <p:cNvSpPr/>
          <p:nvPr/>
        </p:nvSpPr>
        <p:spPr>
          <a:xfrm>
            <a:off x="0" y="0"/>
            <a:ext cx="12191695" cy="1481328"/>
          </a:xfrm>
          <a:prstGeom prst="rect">
            <a:avLst/>
          </a:prstGeom>
          <a:solidFill>
            <a:srgbClr val="0B2B26"/>
          </a:solidFill>
          <a:ln/>
        </p:spPr>
      </p:sp>
      <p:sp>
        <p:nvSpPr>
          <p:cNvPr id="3" name="Shape 1"/>
          <p:cNvSpPr/>
          <p:nvPr/>
        </p:nvSpPr>
        <p:spPr>
          <a:xfrm>
            <a:off x="0" y="1481328"/>
            <a:ext cx="12191695" cy="41148"/>
          </a:xfrm>
          <a:prstGeom prst="rect">
            <a:avLst/>
          </a:prstGeom>
          <a:solidFill>
            <a:srgbClr val="97742A"/>
          </a:solidFill>
          <a:ln/>
        </p:spPr>
      </p:sp>
      <p:sp>
        <p:nvSpPr>
          <p:cNvPr id="4" name="Text 2"/>
          <p:cNvSpPr/>
          <p:nvPr/>
        </p:nvSpPr>
        <p:spPr>
          <a:xfrm>
            <a:off x="685800" y="274320"/>
            <a:ext cx="10789920" cy="274320"/>
          </a:xfrm>
          <a:prstGeom prst="rect">
            <a:avLst/>
          </a:prstGeom>
          <a:noFill/>
          <a:ln/>
        </p:spPr>
        <p:txBody>
          <a:bodyPr wrap="square" rtlCol="0" anchor="ctr"/>
          <a:lstStyle/>
          <a:p>
            <a:pPr indent="0" marL="0">
              <a:buNone/>
            </a:pPr>
            <a:r>
              <a:rPr lang="en-US" sz="1100" b="1" spc="300" kern="0" dirty="0">
                <a:solidFill>
                  <a:srgbClr val="97742A"/>
                </a:solidFill>
                <a:latin typeface="Calibri" pitchFamily="34" charset="0"/>
                <a:ea typeface="Calibri" pitchFamily="34" charset="-122"/>
                <a:cs typeface="Calibri" pitchFamily="34" charset="-120"/>
              </a:rPr>
              <a:t>LIVE DEMO · PASTORAL CARE</a:t>
            </a:r>
            <a:endParaRPr lang="en-US" sz="1100" dirty="0"/>
          </a:p>
        </p:txBody>
      </p:sp>
      <p:sp>
        <p:nvSpPr>
          <p:cNvPr id="5" name="Text 3"/>
          <p:cNvSpPr/>
          <p:nvPr/>
        </p:nvSpPr>
        <p:spPr>
          <a:xfrm>
            <a:off x="685800" y="566928"/>
            <a:ext cx="10789920" cy="749808"/>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The software remembers, so you don't have to</a:t>
            </a:r>
            <a:endParaRPr lang="en-US" sz="3400" dirty="0"/>
          </a:p>
        </p:txBody>
      </p:sp>
      <p:sp>
        <p:nvSpPr>
          <p:cNvPr id="6" name="Shape 4"/>
          <p:cNvSpPr/>
          <p:nvPr/>
        </p:nvSpPr>
        <p:spPr>
          <a:xfrm>
            <a:off x="685800" y="224028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7" name="Shape 5"/>
          <p:cNvSpPr/>
          <p:nvPr/>
        </p:nvSpPr>
        <p:spPr>
          <a:xfrm>
            <a:off x="685800" y="2240280"/>
            <a:ext cx="68580" cy="1645920"/>
          </a:xfrm>
          <a:prstGeom prst="rect">
            <a:avLst/>
          </a:prstGeom>
          <a:solidFill>
            <a:srgbClr val="97742A"/>
          </a:solidFill>
          <a:ln/>
        </p:spPr>
      </p:sp>
      <p:sp>
        <p:nvSpPr>
          <p:cNvPr id="8" name="Text 6"/>
          <p:cNvSpPr/>
          <p:nvPr/>
        </p:nvSpPr>
        <p:spPr>
          <a:xfrm>
            <a:off x="978408" y="247802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Birthdays &amp; anniversaries</a:t>
            </a:r>
            <a:endParaRPr lang="en-US" sz="1700" dirty="0"/>
          </a:p>
        </p:txBody>
      </p:sp>
      <p:sp>
        <p:nvSpPr>
          <p:cNvPr id="9" name="Text 7"/>
          <p:cNvSpPr/>
          <p:nvPr/>
        </p:nvSpPr>
        <p:spPr>
          <a:xfrm>
            <a:off x="978408" y="286207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An SMS goes out on the morning, in your church's name. You set it once.</a:t>
            </a:r>
            <a:endParaRPr lang="en-US" sz="1350" dirty="0"/>
          </a:p>
        </p:txBody>
      </p:sp>
      <p:sp>
        <p:nvSpPr>
          <p:cNvPr id="10" name="Shape 8"/>
          <p:cNvSpPr/>
          <p:nvPr/>
        </p:nvSpPr>
        <p:spPr>
          <a:xfrm>
            <a:off x="6355080" y="224028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6355080" y="2240280"/>
            <a:ext cx="68580" cy="1645920"/>
          </a:xfrm>
          <a:prstGeom prst="rect">
            <a:avLst/>
          </a:prstGeom>
          <a:solidFill>
            <a:srgbClr val="97742A"/>
          </a:solidFill>
          <a:ln/>
        </p:spPr>
      </p:sp>
      <p:sp>
        <p:nvSpPr>
          <p:cNvPr id="12" name="Text 10"/>
          <p:cNvSpPr/>
          <p:nvPr/>
        </p:nvSpPr>
        <p:spPr>
          <a:xfrm>
            <a:off x="6647688" y="247802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First-time visitors</a:t>
            </a:r>
            <a:endParaRPr lang="en-US" sz="1700" dirty="0"/>
          </a:p>
        </p:txBody>
      </p:sp>
      <p:sp>
        <p:nvSpPr>
          <p:cNvPr id="13" name="Text 11"/>
          <p:cNvSpPr/>
          <p:nvPr/>
        </p:nvSpPr>
        <p:spPr>
          <a:xfrm>
            <a:off x="6647688" y="286207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Every visitor becomes a follow-up task with a name against it — not a good intention.</a:t>
            </a:r>
            <a:endParaRPr lang="en-US" sz="1350" dirty="0"/>
          </a:p>
        </p:txBody>
      </p:sp>
      <p:sp>
        <p:nvSpPr>
          <p:cNvPr id="14" name="Shape 12"/>
          <p:cNvSpPr/>
          <p:nvPr/>
        </p:nvSpPr>
        <p:spPr>
          <a:xfrm>
            <a:off x="685800" y="416052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685800" y="4160520"/>
            <a:ext cx="68580" cy="1645920"/>
          </a:xfrm>
          <a:prstGeom prst="rect">
            <a:avLst/>
          </a:prstGeom>
          <a:solidFill>
            <a:srgbClr val="97742A"/>
          </a:solidFill>
          <a:ln/>
        </p:spPr>
      </p:sp>
      <p:sp>
        <p:nvSpPr>
          <p:cNvPr id="16" name="Text 14"/>
          <p:cNvSpPr/>
          <p:nvPr/>
        </p:nvSpPr>
        <p:spPr>
          <a:xfrm>
            <a:off x="978408" y="439826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Members going quiet</a:t>
            </a:r>
            <a:endParaRPr lang="en-US" sz="1700" dirty="0"/>
          </a:p>
        </p:txBody>
      </p:sp>
      <p:sp>
        <p:nvSpPr>
          <p:cNvPr id="17" name="Text 15"/>
          <p:cNvSpPr/>
          <p:nvPr/>
        </p:nvSpPr>
        <p:spPr>
          <a:xfrm>
            <a:off x="978408" y="478231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See who hasn't attended in a while, before they've gone for good.</a:t>
            </a:r>
            <a:endParaRPr lang="en-US" sz="1350" dirty="0"/>
          </a:p>
        </p:txBody>
      </p:sp>
      <p:sp>
        <p:nvSpPr>
          <p:cNvPr id="18" name="Shape 16"/>
          <p:cNvSpPr/>
          <p:nvPr/>
        </p:nvSpPr>
        <p:spPr>
          <a:xfrm>
            <a:off x="6355080" y="416052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9" name="Shape 17"/>
          <p:cNvSpPr/>
          <p:nvPr/>
        </p:nvSpPr>
        <p:spPr>
          <a:xfrm>
            <a:off x="6355080" y="4160520"/>
            <a:ext cx="68580" cy="1645920"/>
          </a:xfrm>
          <a:prstGeom prst="rect">
            <a:avLst/>
          </a:prstGeom>
          <a:solidFill>
            <a:srgbClr val="97742A"/>
          </a:solidFill>
          <a:ln/>
        </p:spPr>
      </p:sp>
      <p:sp>
        <p:nvSpPr>
          <p:cNvPr id="20" name="Text 18"/>
          <p:cNvSpPr/>
          <p:nvPr/>
        </p:nvSpPr>
        <p:spPr>
          <a:xfrm>
            <a:off x="6647688" y="439826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Reach everyone at once</a:t>
            </a:r>
            <a:endParaRPr lang="en-US" sz="1700" dirty="0"/>
          </a:p>
        </p:txBody>
      </p:sp>
      <p:sp>
        <p:nvSpPr>
          <p:cNvPr id="21" name="Text 19"/>
          <p:cNvSpPr/>
          <p:nvPr/>
        </p:nvSpPr>
        <p:spPr>
          <a:xfrm>
            <a:off x="6647688" y="478231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SMS the whole church, one department, or a single person.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6"/>
        </a:solidFill>
      </p:bgPr>
    </p:bg>
    <p:spTree>
      <p:nvGrpSpPr>
        <p:cNvPr id="1" name=""/>
        <p:cNvGrpSpPr/>
        <p:nvPr/>
      </p:nvGrpSpPr>
      <p:grpSpPr>
        <a:xfrm>
          <a:off x="0" y="0"/>
          <a:ext cx="0" cy="0"/>
          <a:chOff x="0" y="0"/>
          <a:chExt cx="0" cy="0"/>
        </a:xfrm>
      </p:grpSpPr>
      <p:sp>
        <p:nvSpPr>
          <p:cNvPr id="2" name="Shape 0"/>
          <p:cNvSpPr/>
          <p:nvPr/>
        </p:nvSpPr>
        <p:spPr>
          <a:xfrm>
            <a:off x="0" y="0"/>
            <a:ext cx="12191695" cy="1481328"/>
          </a:xfrm>
          <a:prstGeom prst="rect">
            <a:avLst/>
          </a:prstGeom>
          <a:solidFill>
            <a:srgbClr val="0B2B26"/>
          </a:solidFill>
          <a:ln/>
        </p:spPr>
      </p:sp>
      <p:sp>
        <p:nvSpPr>
          <p:cNvPr id="3" name="Shape 1"/>
          <p:cNvSpPr/>
          <p:nvPr/>
        </p:nvSpPr>
        <p:spPr>
          <a:xfrm>
            <a:off x="0" y="1481328"/>
            <a:ext cx="12191695" cy="41148"/>
          </a:xfrm>
          <a:prstGeom prst="rect">
            <a:avLst/>
          </a:prstGeom>
          <a:solidFill>
            <a:srgbClr val="97742A"/>
          </a:solidFill>
          <a:ln/>
        </p:spPr>
      </p:sp>
      <p:sp>
        <p:nvSpPr>
          <p:cNvPr id="4" name="Text 2"/>
          <p:cNvSpPr/>
          <p:nvPr/>
        </p:nvSpPr>
        <p:spPr>
          <a:xfrm>
            <a:off x="685800" y="274320"/>
            <a:ext cx="10789920" cy="274320"/>
          </a:xfrm>
          <a:prstGeom prst="rect">
            <a:avLst/>
          </a:prstGeom>
          <a:noFill/>
          <a:ln/>
        </p:spPr>
        <p:txBody>
          <a:bodyPr wrap="square" rtlCol="0" anchor="ctr"/>
          <a:lstStyle/>
          <a:p>
            <a:pPr indent="0" marL="0">
              <a:buNone/>
            </a:pPr>
            <a:r>
              <a:rPr lang="en-US" sz="1100" b="1" spc="300" kern="0" dirty="0">
                <a:solidFill>
                  <a:srgbClr val="97742A"/>
                </a:solidFill>
                <a:latin typeface="Calibri" pitchFamily="34" charset="0"/>
                <a:ea typeface="Calibri" pitchFamily="34" charset="-122"/>
                <a:cs typeface="Calibri" pitchFamily="34" charset="-120"/>
              </a:rPr>
              <a:t>LIVE DEMO · MONDAY MORNING</a:t>
            </a:r>
            <a:endParaRPr lang="en-US" sz="1100" dirty="0"/>
          </a:p>
        </p:txBody>
      </p:sp>
      <p:sp>
        <p:nvSpPr>
          <p:cNvPr id="5" name="Text 3"/>
          <p:cNvSpPr/>
          <p:nvPr/>
        </p:nvSpPr>
        <p:spPr>
          <a:xfrm>
            <a:off x="685800" y="566928"/>
            <a:ext cx="10789920" cy="749808"/>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The answers before they're asked</a:t>
            </a:r>
            <a:endParaRPr lang="en-US" sz="3400" dirty="0"/>
          </a:p>
        </p:txBody>
      </p:sp>
      <p:sp>
        <p:nvSpPr>
          <p:cNvPr id="6" name="Text 4"/>
          <p:cNvSpPr/>
          <p:nvPr/>
        </p:nvSpPr>
        <p:spPr>
          <a:xfrm>
            <a:off x="822960" y="1965960"/>
            <a:ext cx="2468880" cy="841248"/>
          </a:xfrm>
          <a:prstGeom prst="rect">
            <a:avLst/>
          </a:prstGeom>
          <a:noFill/>
          <a:ln/>
        </p:spPr>
        <p:txBody>
          <a:bodyPr wrap="square" lIns="0" tIns="0" rIns="0" bIns="0" rtlCol="0" anchor="ctr"/>
          <a:lstStyle/>
          <a:p>
            <a:pPr algn="ctr" indent="0" marL="0">
              <a:buNone/>
            </a:pPr>
            <a:r>
              <a:rPr lang="en-US" sz="4600" b="1" dirty="0">
                <a:solidFill>
                  <a:srgbClr val="0D7377"/>
                </a:solidFill>
                <a:latin typeface="Trebuchet MS" pitchFamily="34" charset="0"/>
                <a:ea typeface="Trebuchet MS" pitchFamily="34" charset="-122"/>
                <a:cs typeface="Trebuchet MS" pitchFamily="34" charset="-120"/>
              </a:rPr>
              <a:t>45</a:t>
            </a:r>
            <a:endParaRPr lang="en-US" sz="4600" dirty="0"/>
          </a:p>
        </p:txBody>
      </p:sp>
      <p:sp>
        <p:nvSpPr>
          <p:cNvPr id="7" name="Text 5"/>
          <p:cNvSpPr/>
          <p:nvPr/>
        </p:nvSpPr>
        <p:spPr>
          <a:xfrm>
            <a:off x="822960" y="2679192"/>
            <a:ext cx="2468880" cy="457200"/>
          </a:xfrm>
          <a:prstGeom prst="rect">
            <a:avLst/>
          </a:prstGeom>
          <a:noFill/>
          <a:ln/>
        </p:spPr>
        <p:txBody>
          <a:bodyPr wrap="square" lIns="0" tIns="0" rIns="0" bIns="0" rtlCol="0" anchor="ctr"/>
          <a:lstStyle/>
          <a:p>
            <a:pPr algn="ctr" indent="0" marL="0">
              <a:buNone/>
            </a:pPr>
            <a:r>
              <a:rPr lang="en-US" sz="1250" dirty="0">
                <a:solidFill>
                  <a:srgbClr val="6B6456"/>
                </a:solidFill>
                <a:latin typeface="Calibri" pitchFamily="34" charset="0"/>
                <a:ea typeface="Calibri" pitchFamily="34" charset="-122"/>
                <a:cs typeface="Calibri" pitchFamily="34" charset="-120"/>
              </a:rPr>
              <a:t>Members on file</a:t>
            </a:r>
            <a:endParaRPr lang="en-US" sz="1250" dirty="0"/>
          </a:p>
        </p:txBody>
      </p:sp>
      <p:sp>
        <p:nvSpPr>
          <p:cNvPr id="8" name="Text 6"/>
          <p:cNvSpPr/>
          <p:nvPr/>
        </p:nvSpPr>
        <p:spPr>
          <a:xfrm>
            <a:off x="3520440" y="1965960"/>
            <a:ext cx="2468880" cy="841248"/>
          </a:xfrm>
          <a:prstGeom prst="rect">
            <a:avLst/>
          </a:prstGeom>
          <a:noFill/>
          <a:ln/>
        </p:spPr>
        <p:txBody>
          <a:bodyPr wrap="square" lIns="0" tIns="0" rIns="0" bIns="0" rtlCol="0" anchor="ctr"/>
          <a:lstStyle/>
          <a:p>
            <a:pPr algn="ctr" indent="0" marL="0">
              <a:buNone/>
            </a:pPr>
            <a:r>
              <a:rPr lang="en-US" sz="4600" b="1" dirty="0">
                <a:solidFill>
                  <a:srgbClr val="0D7377"/>
                </a:solidFill>
                <a:latin typeface="Trebuchet MS" pitchFamily="34" charset="0"/>
                <a:ea typeface="Trebuchet MS" pitchFamily="34" charset="-122"/>
                <a:cs typeface="Trebuchet MS" pitchFamily="34" charset="-120"/>
              </a:rPr>
              <a:t>14</a:t>
            </a:r>
            <a:endParaRPr lang="en-US" sz="4600" dirty="0"/>
          </a:p>
        </p:txBody>
      </p:sp>
      <p:sp>
        <p:nvSpPr>
          <p:cNvPr id="9" name="Text 7"/>
          <p:cNvSpPr/>
          <p:nvPr/>
        </p:nvSpPr>
        <p:spPr>
          <a:xfrm>
            <a:off x="3520440" y="2679192"/>
            <a:ext cx="2468880" cy="457200"/>
          </a:xfrm>
          <a:prstGeom prst="rect">
            <a:avLst/>
          </a:prstGeom>
          <a:noFill/>
          <a:ln/>
        </p:spPr>
        <p:txBody>
          <a:bodyPr wrap="square" lIns="0" tIns="0" rIns="0" bIns="0" rtlCol="0" anchor="ctr"/>
          <a:lstStyle/>
          <a:p>
            <a:pPr algn="ctr" indent="0" marL="0">
              <a:buNone/>
            </a:pPr>
            <a:r>
              <a:rPr lang="en-US" sz="1250" dirty="0">
                <a:solidFill>
                  <a:srgbClr val="6B6456"/>
                </a:solidFill>
                <a:latin typeface="Calibri" pitchFamily="34" charset="0"/>
                <a:ea typeface="Calibri" pitchFamily="34" charset="-122"/>
                <a:cs typeface="Calibri" pitchFamily="34" charset="-120"/>
              </a:rPr>
              <a:t>Departments</a:t>
            </a:r>
            <a:endParaRPr lang="en-US" sz="1250" dirty="0"/>
          </a:p>
        </p:txBody>
      </p:sp>
      <p:sp>
        <p:nvSpPr>
          <p:cNvPr id="10" name="Text 8"/>
          <p:cNvSpPr/>
          <p:nvPr/>
        </p:nvSpPr>
        <p:spPr>
          <a:xfrm>
            <a:off x="6217920" y="1965960"/>
            <a:ext cx="2468880" cy="841248"/>
          </a:xfrm>
          <a:prstGeom prst="rect">
            <a:avLst/>
          </a:prstGeom>
          <a:noFill/>
          <a:ln/>
        </p:spPr>
        <p:txBody>
          <a:bodyPr wrap="square" lIns="0" tIns="0" rIns="0" bIns="0" rtlCol="0" anchor="ctr"/>
          <a:lstStyle/>
          <a:p>
            <a:pPr algn="ctr" indent="0" marL="0">
              <a:buNone/>
            </a:pPr>
            <a:r>
              <a:rPr lang="en-US" sz="4600" b="1" dirty="0">
                <a:solidFill>
                  <a:srgbClr val="0D7377"/>
                </a:solidFill>
                <a:latin typeface="Trebuchet MS" pitchFamily="34" charset="0"/>
                <a:ea typeface="Trebuchet MS" pitchFamily="34" charset="-122"/>
                <a:cs typeface="Trebuchet MS" pitchFamily="34" charset="-120"/>
              </a:rPr>
              <a:t>6 mo</a:t>
            </a:r>
            <a:endParaRPr lang="en-US" sz="4600" dirty="0"/>
          </a:p>
        </p:txBody>
      </p:sp>
      <p:sp>
        <p:nvSpPr>
          <p:cNvPr id="11" name="Text 9"/>
          <p:cNvSpPr/>
          <p:nvPr/>
        </p:nvSpPr>
        <p:spPr>
          <a:xfrm>
            <a:off x="6217920" y="2679192"/>
            <a:ext cx="2468880" cy="457200"/>
          </a:xfrm>
          <a:prstGeom prst="rect">
            <a:avLst/>
          </a:prstGeom>
          <a:noFill/>
          <a:ln/>
        </p:spPr>
        <p:txBody>
          <a:bodyPr wrap="square" lIns="0" tIns="0" rIns="0" bIns="0" rtlCol="0" anchor="ctr"/>
          <a:lstStyle/>
          <a:p>
            <a:pPr algn="ctr" indent="0" marL="0">
              <a:buNone/>
            </a:pPr>
            <a:r>
              <a:rPr lang="en-US" sz="1250" dirty="0">
                <a:solidFill>
                  <a:srgbClr val="6B6456"/>
                </a:solidFill>
                <a:latin typeface="Calibri" pitchFamily="34" charset="0"/>
                <a:ea typeface="Calibri" pitchFamily="34" charset="-122"/>
                <a:cs typeface="Calibri" pitchFamily="34" charset="-120"/>
              </a:rPr>
              <a:t>Giving &amp; attendance trend</a:t>
            </a:r>
            <a:endParaRPr lang="en-US" sz="1250" dirty="0"/>
          </a:p>
        </p:txBody>
      </p:sp>
      <p:sp>
        <p:nvSpPr>
          <p:cNvPr id="12" name="Text 10"/>
          <p:cNvSpPr/>
          <p:nvPr/>
        </p:nvSpPr>
        <p:spPr>
          <a:xfrm>
            <a:off x="8915400" y="1965960"/>
            <a:ext cx="2468880" cy="841248"/>
          </a:xfrm>
          <a:prstGeom prst="rect">
            <a:avLst/>
          </a:prstGeom>
          <a:noFill/>
          <a:ln/>
        </p:spPr>
        <p:txBody>
          <a:bodyPr wrap="square" lIns="0" tIns="0" rIns="0" bIns="0" rtlCol="0" anchor="ctr"/>
          <a:lstStyle/>
          <a:p>
            <a:pPr algn="ctr" indent="0" marL="0">
              <a:buNone/>
            </a:pPr>
            <a:r>
              <a:rPr lang="en-US" sz="4600" b="1" dirty="0">
                <a:solidFill>
                  <a:srgbClr val="0D7377"/>
                </a:solidFill>
                <a:latin typeface="Trebuchet MS" pitchFamily="34" charset="0"/>
                <a:ea typeface="Trebuchet MS" pitchFamily="34" charset="-122"/>
                <a:cs typeface="Trebuchet MS" pitchFamily="34" charset="-120"/>
              </a:rPr>
              <a:t>1 tap</a:t>
            </a:r>
            <a:endParaRPr lang="en-US" sz="4600" dirty="0"/>
          </a:p>
        </p:txBody>
      </p:sp>
      <p:sp>
        <p:nvSpPr>
          <p:cNvPr id="13" name="Text 11"/>
          <p:cNvSpPr/>
          <p:nvPr/>
        </p:nvSpPr>
        <p:spPr>
          <a:xfrm>
            <a:off x="8915400" y="2679192"/>
            <a:ext cx="2468880" cy="457200"/>
          </a:xfrm>
          <a:prstGeom prst="rect">
            <a:avLst/>
          </a:prstGeom>
          <a:noFill/>
          <a:ln/>
        </p:spPr>
        <p:txBody>
          <a:bodyPr wrap="square" lIns="0" tIns="0" rIns="0" bIns="0" rtlCol="0" anchor="ctr"/>
          <a:lstStyle/>
          <a:p>
            <a:pPr algn="ctr" indent="0" marL="0">
              <a:buNone/>
            </a:pPr>
            <a:r>
              <a:rPr lang="en-US" sz="1250" dirty="0">
                <a:solidFill>
                  <a:srgbClr val="6B6456"/>
                </a:solidFill>
                <a:latin typeface="Calibri" pitchFamily="34" charset="0"/>
                <a:ea typeface="Calibri" pitchFamily="34" charset="-122"/>
                <a:cs typeface="Calibri" pitchFamily="34" charset="-120"/>
              </a:rPr>
              <a:t>Export to Excel</a:t>
            </a:r>
            <a:endParaRPr lang="en-US" sz="1250" dirty="0"/>
          </a:p>
        </p:txBody>
      </p:sp>
      <p:sp>
        <p:nvSpPr>
          <p:cNvPr id="14" name="Shape 12"/>
          <p:cNvSpPr/>
          <p:nvPr/>
        </p:nvSpPr>
        <p:spPr>
          <a:xfrm>
            <a:off x="685800" y="3703320"/>
            <a:ext cx="10817352" cy="2148840"/>
          </a:xfrm>
          <a:prstGeom prst="rect">
            <a:avLst/>
          </a:prstGeom>
          <a:solidFill>
            <a:srgbClr val="FFFFFF"/>
          </a:solidFill>
          <a:ln w="12700">
            <a:solidFill>
              <a:srgbClr val="E0D9C8"/>
            </a:solidFill>
            <a:prstDash val="solid"/>
          </a:ln>
        </p:spPr>
      </p:sp>
      <p:sp>
        <p:nvSpPr>
          <p:cNvPr id="15" name="Shape 13"/>
          <p:cNvSpPr/>
          <p:nvPr/>
        </p:nvSpPr>
        <p:spPr>
          <a:xfrm>
            <a:off x="685800" y="3703320"/>
            <a:ext cx="68580" cy="2148840"/>
          </a:xfrm>
          <a:prstGeom prst="rect">
            <a:avLst/>
          </a:prstGeom>
          <a:solidFill>
            <a:srgbClr val="97742A"/>
          </a:solidFill>
          <a:ln/>
        </p:spPr>
      </p:sp>
      <p:sp>
        <p:nvSpPr>
          <p:cNvPr id="16" name="Text 14"/>
          <p:cNvSpPr/>
          <p:nvPr/>
        </p:nvSpPr>
        <p:spPr>
          <a:xfrm>
            <a:off x="1097280" y="3977640"/>
            <a:ext cx="10058400" cy="457200"/>
          </a:xfrm>
          <a:prstGeom prst="rect">
            <a:avLst/>
          </a:prstGeom>
          <a:noFill/>
          <a:ln/>
        </p:spPr>
        <p:txBody>
          <a:bodyPr wrap="square" lIns="0" tIns="0" rIns="0" bIns="0" rtlCol="0" anchor="ctr"/>
          <a:lstStyle/>
          <a:p>
            <a:pPr indent="0" marL="0">
              <a:buNone/>
            </a:pPr>
            <a:r>
              <a:rPr lang="en-US" sz="2400" b="1" dirty="0">
                <a:solidFill>
                  <a:srgbClr val="0B2B26"/>
                </a:solidFill>
                <a:latin typeface="Trebuchet MS" pitchFamily="34" charset="0"/>
                <a:ea typeface="Trebuchet MS" pitchFamily="34" charset="-122"/>
                <a:cs typeface="Trebuchet MS" pitchFamily="34" charset="-120"/>
              </a:rPr>
              <a:t>“Is the church growing?”</a:t>
            </a:r>
            <a:endParaRPr lang="en-US" sz="2400" dirty="0"/>
          </a:p>
        </p:txBody>
      </p:sp>
      <p:sp>
        <p:nvSpPr>
          <p:cNvPr id="17" name="Text 15"/>
          <p:cNvSpPr/>
          <p:nvPr/>
        </p:nvSpPr>
        <p:spPr>
          <a:xfrm>
            <a:off x="1097280" y="4526280"/>
            <a:ext cx="9966960" cy="1097280"/>
          </a:xfrm>
          <a:prstGeom prst="rect">
            <a:avLst/>
          </a:prstGeom>
          <a:noFill/>
          <a:ln/>
        </p:spPr>
        <p:txBody>
          <a:bodyPr wrap="square" lIns="0" tIns="0" rIns="0" bIns="0" rtlCol="0" anchor="ctr"/>
          <a:lstStyle/>
          <a:p>
            <a:pPr indent="0" marL="0">
              <a:lnSpc>
                <a:spcPts val="2400"/>
              </a:lnSpc>
              <a:buNone/>
            </a:pPr>
            <a:r>
              <a:rPr lang="en-US" sz="1500" dirty="0">
                <a:solidFill>
                  <a:srgbClr val="6B6456"/>
                </a:solidFill>
                <a:latin typeface="Calibri" pitchFamily="34" charset="0"/>
                <a:ea typeface="Calibri" pitchFamily="34" charset="-122"/>
                <a:cs typeface="Calibri" pitchFamily="34" charset="-120"/>
              </a:rPr>
              <a:t>Attendance and giving trends month by month. Which departments are active. Who joined this year.</a:t>
            </a:r>
            <a:endParaRPr lang="en-US" sz="1500" dirty="0"/>
          </a:p>
          <a:p>
            <a:pPr indent="0" marL="0">
              <a:lnSpc>
                <a:spcPts val="2400"/>
              </a:lnSpc>
              <a:buNone/>
            </a:pPr>
            <a:r>
              <a:rPr lang="en-US" sz="1500" dirty="0">
                <a:solidFill>
                  <a:srgbClr val="6B6456"/>
                </a:solidFill>
                <a:latin typeface="Calibri" pitchFamily="34" charset="0"/>
                <a:ea typeface="Calibri" pitchFamily="34" charset="-122"/>
                <a:cs typeface="Calibri" pitchFamily="34" charset="-120"/>
              </a:rPr>
              <a:t>Every figure exports to Excel for your board pack — no one stays up the night before adding columns.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6"/>
        </a:solidFill>
      </p:bgPr>
    </p:bg>
    <p:spTree>
      <p:nvGrpSpPr>
        <p:cNvPr id="1" name=""/>
        <p:cNvGrpSpPr/>
        <p:nvPr/>
      </p:nvGrpSpPr>
      <p:grpSpPr>
        <a:xfrm>
          <a:off x="0" y="0"/>
          <a:ext cx="0" cy="0"/>
          <a:chOff x="0" y="0"/>
          <a:chExt cx="0" cy="0"/>
        </a:xfrm>
      </p:grpSpPr>
      <p:sp>
        <p:nvSpPr>
          <p:cNvPr id="2" name="Shape 0"/>
          <p:cNvSpPr/>
          <p:nvPr/>
        </p:nvSpPr>
        <p:spPr>
          <a:xfrm>
            <a:off x="0" y="0"/>
            <a:ext cx="12191695" cy="1481328"/>
          </a:xfrm>
          <a:prstGeom prst="rect">
            <a:avLst/>
          </a:prstGeom>
          <a:solidFill>
            <a:srgbClr val="0B2B26"/>
          </a:solidFill>
          <a:ln/>
        </p:spPr>
      </p:sp>
      <p:sp>
        <p:nvSpPr>
          <p:cNvPr id="3" name="Shape 1"/>
          <p:cNvSpPr/>
          <p:nvPr/>
        </p:nvSpPr>
        <p:spPr>
          <a:xfrm>
            <a:off x="0" y="1481328"/>
            <a:ext cx="12191695" cy="41148"/>
          </a:xfrm>
          <a:prstGeom prst="rect">
            <a:avLst/>
          </a:prstGeom>
          <a:solidFill>
            <a:srgbClr val="97742A"/>
          </a:solidFill>
          <a:ln/>
        </p:spPr>
      </p:sp>
      <p:sp>
        <p:nvSpPr>
          <p:cNvPr id="4" name="Text 2"/>
          <p:cNvSpPr/>
          <p:nvPr/>
        </p:nvSpPr>
        <p:spPr>
          <a:xfrm>
            <a:off x="685800" y="274320"/>
            <a:ext cx="10789920" cy="274320"/>
          </a:xfrm>
          <a:prstGeom prst="rect">
            <a:avLst/>
          </a:prstGeom>
          <a:noFill/>
          <a:ln/>
        </p:spPr>
        <p:txBody>
          <a:bodyPr wrap="square" rtlCol="0" anchor="ctr"/>
          <a:lstStyle/>
          <a:p>
            <a:pPr indent="0" marL="0">
              <a:buNone/>
            </a:pPr>
            <a:r>
              <a:rPr lang="en-US" sz="1100" b="1" spc="300" kern="0" dirty="0">
                <a:solidFill>
                  <a:srgbClr val="97742A"/>
                </a:solidFill>
                <a:latin typeface="Calibri" pitchFamily="34" charset="0"/>
                <a:ea typeface="Calibri" pitchFamily="34" charset="-122"/>
                <a:cs typeface="Calibri" pitchFamily="34" charset="-120"/>
              </a:rPr>
              <a:t>PRACTICAL QUESTIONS</a:t>
            </a:r>
            <a:endParaRPr lang="en-US" sz="1100" dirty="0"/>
          </a:p>
        </p:txBody>
      </p:sp>
      <p:sp>
        <p:nvSpPr>
          <p:cNvPr id="5" name="Text 3"/>
          <p:cNvSpPr/>
          <p:nvPr/>
        </p:nvSpPr>
        <p:spPr>
          <a:xfrm>
            <a:off x="685800" y="566928"/>
            <a:ext cx="10789920" cy="749808"/>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It works the way your church actually works</a:t>
            </a:r>
            <a:endParaRPr lang="en-US" sz="3400" dirty="0"/>
          </a:p>
        </p:txBody>
      </p:sp>
      <p:sp>
        <p:nvSpPr>
          <p:cNvPr id="6" name="Shape 4"/>
          <p:cNvSpPr/>
          <p:nvPr/>
        </p:nvSpPr>
        <p:spPr>
          <a:xfrm>
            <a:off x="685800" y="224028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7" name="Shape 5"/>
          <p:cNvSpPr/>
          <p:nvPr/>
        </p:nvSpPr>
        <p:spPr>
          <a:xfrm>
            <a:off x="685800" y="2240280"/>
            <a:ext cx="68580" cy="1645920"/>
          </a:xfrm>
          <a:prstGeom prst="rect">
            <a:avLst/>
          </a:prstGeom>
          <a:solidFill>
            <a:srgbClr val="97742A"/>
          </a:solidFill>
          <a:ln/>
        </p:spPr>
      </p:sp>
      <p:sp>
        <p:nvSpPr>
          <p:cNvPr id="8" name="Text 6"/>
          <p:cNvSpPr/>
          <p:nvPr/>
        </p:nvSpPr>
        <p:spPr>
          <a:xfrm>
            <a:off x="978408" y="247802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No app store, no installing</a:t>
            </a:r>
            <a:endParaRPr lang="en-US" sz="1700" dirty="0"/>
          </a:p>
        </p:txBody>
      </p:sp>
      <p:sp>
        <p:nvSpPr>
          <p:cNvPr id="9" name="Text 7"/>
          <p:cNvSpPr/>
          <p:nvPr/>
        </p:nvSpPr>
        <p:spPr>
          <a:xfrm>
            <a:off x="978408" y="286207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It opens in the browser on any phone, tablet or computer. Share a link and your ushers are working.</a:t>
            </a:r>
            <a:endParaRPr lang="en-US" sz="1350" dirty="0"/>
          </a:p>
        </p:txBody>
      </p:sp>
      <p:sp>
        <p:nvSpPr>
          <p:cNvPr id="10" name="Shape 8"/>
          <p:cNvSpPr/>
          <p:nvPr/>
        </p:nvSpPr>
        <p:spPr>
          <a:xfrm>
            <a:off x="6355080" y="224028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6355080" y="2240280"/>
            <a:ext cx="68580" cy="1645920"/>
          </a:xfrm>
          <a:prstGeom prst="rect">
            <a:avLst/>
          </a:prstGeom>
          <a:solidFill>
            <a:srgbClr val="97742A"/>
          </a:solidFill>
          <a:ln/>
        </p:spPr>
      </p:sp>
      <p:sp>
        <p:nvSpPr>
          <p:cNvPr id="12" name="Text 10"/>
          <p:cNvSpPr/>
          <p:nvPr/>
        </p:nvSpPr>
        <p:spPr>
          <a:xfrm>
            <a:off x="6647688" y="247802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Poor network? Still works</a:t>
            </a:r>
            <a:endParaRPr lang="en-US" sz="1700" dirty="0"/>
          </a:p>
        </p:txBody>
      </p:sp>
      <p:sp>
        <p:nvSpPr>
          <p:cNvPr id="13" name="Text 11"/>
          <p:cNvSpPr/>
          <p:nvPr/>
        </p:nvSpPr>
        <p:spPr>
          <a:xfrm>
            <a:off x="6647688" y="286207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The desktop app keeps running with no internet and syncs everything the moment you're back online.</a:t>
            </a:r>
            <a:endParaRPr lang="en-US" sz="1350" dirty="0"/>
          </a:p>
        </p:txBody>
      </p:sp>
      <p:sp>
        <p:nvSpPr>
          <p:cNvPr id="14" name="Shape 12"/>
          <p:cNvSpPr/>
          <p:nvPr/>
        </p:nvSpPr>
        <p:spPr>
          <a:xfrm>
            <a:off x="685800" y="416052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685800" y="4160520"/>
            <a:ext cx="68580" cy="1645920"/>
          </a:xfrm>
          <a:prstGeom prst="rect">
            <a:avLst/>
          </a:prstGeom>
          <a:solidFill>
            <a:srgbClr val="97742A"/>
          </a:solidFill>
          <a:ln/>
        </p:spPr>
      </p:sp>
      <p:sp>
        <p:nvSpPr>
          <p:cNvPr id="16" name="Text 14"/>
          <p:cNvSpPr/>
          <p:nvPr/>
        </p:nvSpPr>
        <p:spPr>
          <a:xfrm>
            <a:off x="978408" y="439826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Everyone sees only their part</a:t>
            </a:r>
            <a:endParaRPr lang="en-US" sz="1700" dirty="0"/>
          </a:p>
        </p:txBody>
      </p:sp>
      <p:sp>
        <p:nvSpPr>
          <p:cNvPr id="17" name="Text 15"/>
          <p:cNvSpPr/>
          <p:nvPr/>
        </p:nvSpPr>
        <p:spPr>
          <a:xfrm>
            <a:off x="978408" y="478231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Your finance officer sees giving. A department head sees their members. You decide who sees what.</a:t>
            </a:r>
            <a:endParaRPr lang="en-US" sz="1350" dirty="0"/>
          </a:p>
        </p:txBody>
      </p:sp>
      <p:sp>
        <p:nvSpPr>
          <p:cNvPr id="18" name="Shape 16"/>
          <p:cNvSpPr/>
          <p:nvPr/>
        </p:nvSpPr>
        <p:spPr>
          <a:xfrm>
            <a:off x="6355080" y="4160520"/>
            <a:ext cx="4983480" cy="1645920"/>
          </a:xfrm>
          <a:prstGeom prst="rect">
            <a:avLst/>
          </a:prstGeom>
          <a:solidFill>
            <a:srgbClr val="FFFFFF"/>
          </a:solidFill>
          <a:ln w="12700">
            <a:solidFill>
              <a:srgbClr val="E0D9C8"/>
            </a:solidFill>
            <a:prstDash val="solid"/>
          </a:ln>
          <a:effectLst>
            <a:outerShdw sx="100000" sy="100000" kx="0" ky="0" algn="bl" rotWithShape="0" blurRad="101600" dist="12700" dir="5400000">
              <a:srgbClr val="000000">
                <a:alpha val="8000"/>
              </a:srgbClr>
            </a:outerShdw>
          </a:effectLst>
        </p:spPr>
      </p:sp>
      <p:sp>
        <p:nvSpPr>
          <p:cNvPr id="19" name="Shape 17"/>
          <p:cNvSpPr/>
          <p:nvPr/>
        </p:nvSpPr>
        <p:spPr>
          <a:xfrm>
            <a:off x="6355080" y="4160520"/>
            <a:ext cx="68580" cy="1645920"/>
          </a:xfrm>
          <a:prstGeom prst="rect">
            <a:avLst/>
          </a:prstGeom>
          <a:solidFill>
            <a:srgbClr val="97742A"/>
          </a:solidFill>
          <a:ln/>
        </p:spPr>
      </p:sp>
      <p:sp>
        <p:nvSpPr>
          <p:cNvPr id="20" name="Text 18"/>
          <p:cNvSpPr/>
          <p:nvPr/>
        </p:nvSpPr>
        <p:spPr>
          <a:xfrm>
            <a:off x="6647688" y="4398264"/>
            <a:ext cx="4434840" cy="365760"/>
          </a:xfrm>
          <a:prstGeom prst="rect">
            <a:avLst/>
          </a:prstGeom>
          <a:noFill/>
          <a:ln/>
        </p:spPr>
        <p:txBody>
          <a:bodyPr wrap="square" lIns="0" tIns="0" rIns="0" bIns="0" rtlCol="0" anchor="t"/>
          <a:lstStyle/>
          <a:p>
            <a:pPr indent="0" marL="0">
              <a:buNone/>
            </a:pPr>
            <a:r>
              <a:rPr lang="en-US" sz="1700" b="1" dirty="0">
                <a:solidFill>
                  <a:srgbClr val="0B2B26"/>
                </a:solidFill>
                <a:latin typeface="Trebuchet MS" pitchFamily="34" charset="0"/>
                <a:ea typeface="Trebuchet MS" pitchFamily="34" charset="-122"/>
                <a:cs typeface="Trebuchet MS" pitchFamily="34" charset="-120"/>
              </a:rPr>
              <a:t>Your data is yours</a:t>
            </a:r>
            <a:endParaRPr lang="en-US" sz="1700" dirty="0"/>
          </a:p>
        </p:txBody>
      </p:sp>
      <p:sp>
        <p:nvSpPr>
          <p:cNvPr id="21" name="Text 19"/>
          <p:cNvSpPr/>
          <p:nvPr/>
        </p:nvSpPr>
        <p:spPr>
          <a:xfrm>
            <a:off x="6647688" y="4782312"/>
            <a:ext cx="4434840" cy="822960"/>
          </a:xfrm>
          <a:prstGeom prst="rect">
            <a:avLst/>
          </a:prstGeom>
          <a:noFill/>
          <a:ln/>
        </p:spPr>
        <p:txBody>
          <a:bodyPr wrap="square" lIns="0" tIns="0" rIns="0" bIns="0" rtlCol="0" anchor="t"/>
          <a:lstStyle/>
          <a:p>
            <a:pPr indent="0" marL="0">
              <a:lnSpc>
                <a:spcPts val="1900"/>
              </a:lnSpc>
              <a:buNone/>
            </a:pPr>
            <a:r>
              <a:rPr lang="en-US" sz="1350" dirty="0">
                <a:solidFill>
                  <a:srgbClr val="6B6456"/>
                </a:solidFill>
                <a:latin typeface="Calibri" pitchFamily="34" charset="0"/>
                <a:ea typeface="Calibri" pitchFamily="34" charset="-122"/>
                <a:cs typeface="Calibri" pitchFamily="34" charset="-120"/>
              </a:rPr>
              <a:t>Export everything to Excel whenever you want. Nothing is locked in.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6"/>
        </a:solidFill>
      </p:bgPr>
    </p:bg>
    <p:spTree>
      <p:nvGrpSpPr>
        <p:cNvPr id="1" name=""/>
        <p:cNvGrpSpPr/>
        <p:nvPr/>
      </p:nvGrpSpPr>
      <p:grpSpPr>
        <a:xfrm>
          <a:off x="0" y="0"/>
          <a:ext cx="0" cy="0"/>
          <a:chOff x="0" y="0"/>
          <a:chExt cx="0" cy="0"/>
        </a:xfrm>
      </p:grpSpPr>
      <p:sp>
        <p:nvSpPr>
          <p:cNvPr id="2" name="Shape 0"/>
          <p:cNvSpPr/>
          <p:nvPr/>
        </p:nvSpPr>
        <p:spPr>
          <a:xfrm>
            <a:off x="0" y="0"/>
            <a:ext cx="12191695" cy="1481328"/>
          </a:xfrm>
          <a:prstGeom prst="rect">
            <a:avLst/>
          </a:prstGeom>
          <a:solidFill>
            <a:srgbClr val="0B2B26"/>
          </a:solidFill>
          <a:ln/>
        </p:spPr>
      </p:sp>
      <p:sp>
        <p:nvSpPr>
          <p:cNvPr id="3" name="Shape 1"/>
          <p:cNvSpPr/>
          <p:nvPr/>
        </p:nvSpPr>
        <p:spPr>
          <a:xfrm>
            <a:off x="0" y="1481328"/>
            <a:ext cx="12191695" cy="41148"/>
          </a:xfrm>
          <a:prstGeom prst="rect">
            <a:avLst/>
          </a:prstGeom>
          <a:solidFill>
            <a:srgbClr val="97742A"/>
          </a:solidFill>
          <a:ln/>
        </p:spPr>
      </p:sp>
      <p:sp>
        <p:nvSpPr>
          <p:cNvPr id="4" name="Text 2"/>
          <p:cNvSpPr/>
          <p:nvPr/>
        </p:nvSpPr>
        <p:spPr>
          <a:xfrm>
            <a:off x="685800" y="274320"/>
            <a:ext cx="10789920" cy="274320"/>
          </a:xfrm>
          <a:prstGeom prst="rect">
            <a:avLst/>
          </a:prstGeom>
          <a:noFill/>
          <a:ln/>
        </p:spPr>
        <p:txBody>
          <a:bodyPr wrap="square" rtlCol="0" anchor="ctr"/>
          <a:lstStyle/>
          <a:p>
            <a:pPr indent="0" marL="0">
              <a:buNone/>
            </a:pPr>
            <a:r>
              <a:rPr lang="en-US" sz="1100" b="1" spc="300" kern="0" dirty="0">
                <a:solidFill>
                  <a:srgbClr val="97742A"/>
                </a:solidFill>
                <a:latin typeface="Calibri" pitchFamily="34" charset="0"/>
                <a:ea typeface="Calibri" pitchFamily="34" charset="-122"/>
                <a:cs typeface="Calibri" pitchFamily="34" charset="-120"/>
              </a:rPr>
              <a:t>WHAT IT COSTS</a:t>
            </a:r>
            <a:endParaRPr lang="en-US" sz="1100" dirty="0"/>
          </a:p>
        </p:txBody>
      </p:sp>
      <p:sp>
        <p:nvSpPr>
          <p:cNvPr id="5" name="Text 3"/>
          <p:cNvSpPr/>
          <p:nvPr/>
        </p:nvSpPr>
        <p:spPr>
          <a:xfrm>
            <a:off x="685800" y="566928"/>
            <a:ext cx="10789920" cy="749808"/>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Start free. Pay only when you outgrow it.</a:t>
            </a:r>
            <a:endParaRPr lang="en-US" sz="3400" dirty="0"/>
          </a:p>
        </p:txBody>
      </p:sp>
      <p:sp>
        <p:nvSpPr>
          <p:cNvPr id="6" name="Shape 4"/>
          <p:cNvSpPr/>
          <p:nvPr/>
        </p:nvSpPr>
        <p:spPr>
          <a:xfrm>
            <a:off x="685800" y="1901952"/>
            <a:ext cx="3401568" cy="3200400"/>
          </a:xfrm>
          <a:prstGeom prst="rect">
            <a:avLst/>
          </a:prstGeom>
          <a:solidFill>
            <a:srgbClr val="0B2B26"/>
          </a:solidFill>
          <a:ln/>
        </p:spPr>
      </p:sp>
      <p:sp>
        <p:nvSpPr>
          <p:cNvPr id="7" name="Shape 5"/>
          <p:cNvSpPr/>
          <p:nvPr/>
        </p:nvSpPr>
        <p:spPr>
          <a:xfrm>
            <a:off x="685800" y="1901952"/>
            <a:ext cx="3401568" cy="64008"/>
          </a:xfrm>
          <a:prstGeom prst="rect">
            <a:avLst/>
          </a:prstGeom>
          <a:solidFill>
            <a:srgbClr val="97742A"/>
          </a:solidFill>
          <a:ln/>
        </p:spPr>
      </p:sp>
      <p:sp>
        <p:nvSpPr>
          <p:cNvPr id="8" name="Text 6"/>
          <p:cNvSpPr/>
          <p:nvPr/>
        </p:nvSpPr>
        <p:spPr>
          <a:xfrm>
            <a:off x="960120" y="2084832"/>
            <a:ext cx="2834640" cy="274320"/>
          </a:xfrm>
          <a:prstGeom prst="rect">
            <a:avLst/>
          </a:prstGeom>
          <a:noFill/>
          <a:ln/>
        </p:spPr>
        <p:txBody>
          <a:bodyPr wrap="square" lIns="0" tIns="0" rIns="0" bIns="0" rtlCol="0" anchor="ctr"/>
          <a:lstStyle/>
          <a:p>
            <a:pPr indent="0" marL="0">
              <a:buNone/>
            </a:pPr>
            <a:r>
              <a:rPr lang="en-US" sz="1000" b="1" spc="250" kern="0" dirty="0">
                <a:solidFill>
                  <a:srgbClr val="97742A"/>
                </a:solidFill>
                <a:latin typeface="Calibri" pitchFamily="34" charset="0"/>
                <a:ea typeface="Calibri" pitchFamily="34" charset="-122"/>
                <a:cs typeface="Calibri" pitchFamily="34" charset="-120"/>
              </a:rPr>
              <a:t>START HERE</a:t>
            </a:r>
            <a:endParaRPr lang="en-US" sz="1000" dirty="0"/>
          </a:p>
        </p:txBody>
      </p:sp>
      <p:sp>
        <p:nvSpPr>
          <p:cNvPr id="9" name="Text 7"/>
          <p:cNvSpPr/>
          <p:nvPr/>
        </p:nvSpPr>
        <p:spPr>
          <a:xfrm>
            <a:off x="960120" y="2432304"/>
            <a:ext cx="2834640" cy="822960"/>
          </a:xfrm>
          <a:prstGeom prst="rect">
            <a:avLst/>
          </a:prstGeom>
          <a:noFill/>
          <a:ln/>
        </p:spPr>
        <p:txBody>
          <a:bodyPr wrap="square" lIns="0" tIns="0" rIns="0" bIns="0" rtlCol="0" anchor="ctr"/>
          <a:lstStyle/>
          <a:p>
            <a:pPr indent="0" marL="0">
              <a:buNone/>
            </a:pPr>
            <a:r>
              <a:rPr lang="en-US" sz="4200" b="1" dirty="0">
                <a:solidFill>
                  <a:srgbClr val="FFFFFF"/>
                </a:solidFill>
                <a:latin typeface="Trebuchet MS" pitchFamily="34" charset="0"/>
                <a:ea typeface="Trebuchet MS" pitchFamily="34" charset="-122"/>
                <a:cs typeface="Trebuchet MS" pitchFamily="34" charset="-120"/>
              </a:rPr>
              <a:t>Free</a:t>
            </a:r>
            <a:endParaRPr lang="en-US" sz="4200" dirty="0"/>
          </a:p>
        </p:txBody>
      </p:sp>
      <p:sp>
        <p:nvSpPr>
          <p:cNvPr id="10" name="Text 8"/>
          <p:cNvSpPr/>
          <p:nvPr/>
        </p:nvSpPr>
        <p:spPr>
          <a:xfrm>
            <a:off x="960120" y="3291840"/>
            <a:ext cx="2834640" cy="320040"/>
          </a:xfrm>
          <a:prstGeom prst="rect">
            <a:avLst/>
          </a:prstGeom>
          <a:noFill/>
          <a:ln/>
        </p:spPr>
        <p:txBody>
          <a:bodyPr wrap="square" lIns="0" tIns="0" rIns="0" bIns="0" rtlCol="0" anchor="ctr"/>
          <a:lstStyle/>
          <a:p>
            <a:pPr indent="0" marL="0">
              <a:buNone/>
            </a:pPr>
            <a:r>
              <a:rPr lang="en-US" sz="1350" b="1" dirty="0">
                <a:solidFill>
                  <a:srgbClr val="97742A"/>
                </a:solidFill>
                <a:latin typeface="Calibri" pitchFamily="34" charset="0"/>
                <a:ea typeface="Calibri" pitchFamily="34" charset="-122"/>
                <a:cs typeface="Calibri" pitchFamily="34" charset="-120"/>
              </a:rPr>
              <a:t>Up to 50 members</a:t>
            </a:r>
            <a:endParaRPr lang="en-US" sz="1350" dirty="0"/>
          </a:p>
        </p:txBody>
      </p:sp>
      <p:sp>
        <p:nvSpPr>
          <p:cNvPr id="11" name="Text 9"/>
          <p:cNvSpPr/>
          <p:nvPr/>
        </p:nvSpPr>
        <p:spPr>
          <a:xfrm>
            <a:off x="960120" y="3703320"/>
            <a:ext cx="2880360" cy="1097280"/>
          </a:xfrm>
          <a:prstGeom prst="rect">
            <a:avLst/>
          </a:prstGeom>
          <a:noFill/>
          <a:ln/>
        </p:spPr>
        <p:txBody>
          <a:bodyPr wrap="square" lIns="0" tIns="0" rIns="0" bIns="0" rtlCol="0" anchor="ctr"/>
          <a:lstStyle/>
          <a:p>
            <a:pPr indent="0" marL="0">
              <a:lnSpc>
                <a:spcPts val="2000"/>
              </a:lnSpc>
              <a:buNone/>
            </a:pPr>
            <a:r>
              <a:rPr lang="en-US" sz="1300" dirty="0">
                <a:solidFill>
                  <a:srgbClr val="AFC2BA"/>
                </a:solidFill>
                <a:latin typeface="Calibri" pitchFamily="34" charset="0"/>
                <a:ea typeface="Calibri" pitchFamily="34" charset="-122"/>
                <a:cs typeface="Calibri" pitchFamily="34" charset="-120"/>
              </a:rPr>
              <a:t>Members · Giving · Attendance</a:t>
            </a:r>
            <a:endParaRPr lang="en-US" sz="1300" dirty="0"/>
          </a:p>
          <a:p>
            <a:pPr indent="0" marL="0">
              <a:lnSpc>
                <a:spcPts val="2000"/>
              </a:lnSpc>
              <a:buNone/>
            </a:pPr>
            <a:r>
              <a:rPr lang="en-US" sz="1300" dirty="0">
                <a:solidFill>
                  <a:srgbClr val="AFC2BA"/>
                </a:solidFill>
                <a:latin typeface="Calibri" pitchFamily="34" charset="0"/>
                <a:ea typeface="Calibri" pitchFamily="34" charset="-122"/>
                <a:cs typeface="Calibri" pitchFamily="34" charset="-120"/>
              </a:rPr>
              <a:t>QR check-in · Events</a:t>
            </a:r>
            <a:endParaRPr lang="en-US" sz="1300" dirty="0"/>
          </a:p>
          <a:p>
            <a:pPr indent="0" marL="0">
              <a:lnSpc>
                <a:spcPts val="2000"/>
              </a:lnSpc>
              <a:buNone/>
            </a:pPr>
            <a:r>
              <a:rPr lang="en-US" sz="1300" dirty="0">
                <a:solidFill>
                  <a:srgbClr val="AFC2BA"/>
                </a:solidFill>
                <a:latin typeface="Calibri" pitchFamily="34" charset="0"/>
                <a:ea typeface="Calibri" pitchFamily="34" charset="-122"/>
                <a:cs typeface="Calibri" pitchFamily="34" charset="-120"/>
              </a:rPr>
              <a:t>Works on every phone</a:t>
            </a:r>
            <a:endParaRPr lang="en-US" sz="1300" dirty="0"/>
          </a:p>
        </p:txBody>
      </p:sp>
      <p:sp>
        <p:nvSpPr>
          <p:cNvPr id="12" name="Shape 10"/>
          <p:cNvSpPr/>
          <p:nvPr/>
        </p:nvSpPr>
        <p:spPr>
          <a:xfrm>
            <a:off x="4544568" y="1901952"/>
            <a:ext cx="2194560" cy="3200400"/>
          </a:xfrm>
          <a:prstGeom prst="rect">
            <a:avLst/>
          </a:prstGeom>
          <a:solidFill>
            <a:srgbClr val="FFFFFF"/>
          </a:solidFill>
          <a:ln w="12700">
            <a:solidFill>
              <a:srgbClr val="E0D9C8"/>
            </a:solidFill>
            <a:prstDash val="solid"/>
          </a:ln>
        </p:spPr>
      </p:sp>
      <p:sp>
        <p:nvSpPr>
          <p:cNvPr id="13" name="Shape 11"/>
          <p:cNvSpPr/>
          <p:nvPr/>
        </p:nvSpPr>
        <p:spPr>
          <a:xfrm>
            <a:off x="4544568" y="1901952"/>
            <a:ext cx="2194560" cy="64008"/>
          </a:xfrm>
          <a:prstGeom prst="rect">
            <a:avLst/>
          </a:prstGeom>
          <a:solidFill>
            <a:srgbClr val="97742A"/>
          </a:solidFill>
          <a:ln/>
        </p:spPr>
      </p:sp>
      <p:sp>
        <p:nvSpPr>
          <p:cNvPr id="14" name="Text 12"/>
          <p:cNvSpPr/>
          <p:nvPr/>
        </p:nvSpPr>
        <p:spPr>
          <a:xfrm>
            <a:off x="4773168" y="2103120"/>
            <a:ext cx="1783080" cy="320040"/>
          </a:xfrm>
          <a:prstGeom prst="rect">
            <a:avLst/>
          </a:prstGeom>
          <a:noFill/>
          <a:ln/>
        </p:spPr>
        <p:txBody>
          <a:bodyPr wrap="square" lIns="0" tIns="0" rIns="0" bIns="0" rtlCol="0" anchor="ctr"/>
          <a:lstStyle/>
          <a:p>
            <a:pPr indent="0" marL="0">
              <a:buNone/>
            </a:pPr>
            <a:r>
              <a:rPr lang="en-US" sz="1700" b="1" dirty="0">
                <a:solidFill>
                  <a:srgbClr val="0B2B26"/>
                </a:solidFill>
                <a:latin typeface="Trebuchet MS" pitchFamily="34" charset="0"/>
                <a:ea typeface="Trebuchet MS" pitchFamily="34" charset="-122"/>
                <a:cs typeface="Trebuchet MS" pitchFamily="34" charset="-120"/>
              </a:rPr>
              <a:t>Starter</a:t>
            </a:r>
            <a:endParaRPr lang="en-US" sz="1700" dirty="0"/>
          </a:p>
        </p:txBody>
      </p:sp>
      <p:sp>
        <p:nvSpPr>
          <p:cNvPr id="15" name="Text 13"/>
          <p:cNvSpPr/>
          <p:nvPr/>
        </p:nvSpPr>
        <p:spPr>
          <a:xfrm>
            <a:off x="4773168" y="2487168"/>
            <a:ext cx="1783080" cy="566928"/>
          </a:xfrm>
          <a:prstGeom prst="rect">
            <a:avLst/>
          </a:prstGeom>
          <a:noFill/>
          <a:ln/>
        </p:spPr>
        <p:txBody>
          <a:bodyPr wrap="square" lIns="0" tIns="0" rIns="0" bIns="0" rtlCol="0" anchor="ctr"/>
          <a:lstStyle/>
          <a:p>
            <a:pPr indent="0" marL="0">
              <a:buNone/>
            </a:pPr>
            <a:r>
              <a:rPr lang="en-US" sz="2700" b="1" dirty="0">
                <a:solidFill>
                  <a:srgbClr val="0D7377"/>
                </a:solidFill>
                <a:latin typeface="Trebuchet MS" pitchFamily="34" charset="0"/>
                <a:ea typeface="Trebuchet MS" pitchFamily="34" charset="-122"/>
                <a:cs typeface="Trebuchet MS" pitchFamily="34" charset="-120"/>
              </a:rPr>
              <a:t>$9.99</a:t>
            </a:r>
            <a:endParaRPr lang="en-US" sz="2700" dirty="0"/>
          </a:p>
        </p:txBody>
      </p:sp>
      <p:sp>
        <p:nvSpPr>
          <p:cNvPr id="16" name="Text 14"/>
          <p:cNvSpPr/>
          <p:nvPr/>
        </p:nvSpPr>
        <p:spPr>
          <a:xfrm>
            <a:off x="4773168" y="3072384"/>
            <a:ext cx="1783080" cy="256032"/>
          </a:xfrm>
          <a:prstGeom prst="rect">
            <a:avLst/>
          </a:prstGeom>
          <a:noFill/>
          <a:ln/>
        </p:spPr>
        <p:txBody>
          <a:bodyPr wrap="square" lIns="0" tIns="0" rIns="0" bIns="0" rtlCol="0" anchor="ctr"/>
          <a:lstStyle/>
          <a:p>
            <a:pPr indent="0" marL="0">
              <a:buNone/>
            </a:pPr>
            <a:r>
              <a:rPr lang="en-US" sz="1100" dirty="0">
                <a:solidFill>
                  <a:srgbClr val="6B6456"/>
                </a:solidFill>
                <a:latin typeface="Calibri" pitchFamily="34" charset="0"/>
                <a:ea typeface="Calibri" pitchFamily="34" charset="-122"/>
                <a:cs typeface="Calibri" pitchFamily="34" charset="-120"/>
              </a:rPr>
              <a:t>per month</a:t>
            </a:r>
            <a:endParaRPr lang="en-US" sz="1100" dirty="0"/>
          </a:p>
        </p:txBody>
      </p:sp>
      <p:sp>
        <p:nvSpPr>
          <p:cNvPr id="17" name="Text 15"/>
          <p:cNvSpPr/>
          <p:nvPr/>
        </p:nvSpPr>
        <p:spPr>
          <a:xfrm>
            <a:off x="4773168" y="3364992"/>
            <a:ext cx="1783080" cy="274320"/>
          </a:xfrm>
          <a:prstGeom prst="rect">
            <a:avLst/>
          </a:prstGeom>
          <a:noFill/>
          <a:ln/>
        </p:spPr>
        <p:txBody>
          <a:bodyPr wrap="square" lIns="0" tIns="0" rIns="0" bIns="0" rtlCol="0" anchor="ctr"/>
          <a:lstStyle/>
          <a:p>
            <a:pPr indent="0" marL="0">
              <a:buNone/>
            </a:pPr>
            <a:r>
              <a:rPr lang="en-US" sz="1150" b="1" dirty="0">
                <a:solidFill>
                  <a:srgbClr val="97742A"/>
                </a:solidFill>
                <a:latin typeface="Calibri" pitchFamily="34" charset="0"/>
                <a:ea typeface="Calibri" pitchFamily="34" charset="-122"/>
                <a:cs typeface="Calibri" pitchFamily="34" charset="-120"/>
              </a:rPr>
              <a:t>up to 250 members</a:t>
            </a:r>
            <a:endParaRPr lang="en-US" sz="1150" dirty="0"/>
          </a:p>
        </p:txBody>
      </p:sp>
      <p:sp>
        <p:nvSpPr>
          <p:cNvPr id="18" name="Text 16"/>
          <p:cNvSpPr/>
          <p:nvPr/>
        </p:nvSpPr>
        <p:spPr>
          <a:xfrm>
            <a:off x="4773168" y="3703320"/>
            <a:ext cx="1810512" cy="1097280"/>
          </a:xfrm>
          <a:prstGeom prst="rect">
            <a:avLst/>
          </a:prstGeom>
          <a:noFill/>
          <a:ln/>
        </p:spPr>
        <p:txBody>
          <a:bodyPr wrap="square" lIns="0" tIns="0" rIns="0" bIns="0" rtlCol="0" anchor="ctr"/>
          <a:lstStyle/>
          <a:p>
            <a:pPr indent="0" marL="0">
              <a:lnSpc>
                <a:spcPts val="1700"/>
              </a:lnSpc>
              <a:buNone/>
            </a:pPr>
            <a:r>
              <a:rPr lang="en-US" sz="1150" dirty="0">
                <a:solidFill>
                  <a:srgbClr val="6B6456"/>
                </a:solidFill>
                <a:latin typeface="Calibri" pitchFamily="34" charset="0"/>
                <a:ea typeface="Calibri" pitchFamily="34" charset="-122"/>
                <a:cs typeface="Calibri" pitchFamily="34" charset="-120"/>
              </a:rPr>
              <a:t>Everything free, plus</a:t>
            </a:r>
            <a:endParaRPr lang="en-US" sz="1150" dirty="0"/>
          </a:p>
          <a:p>
            <a:pPr indent="0" marL="0">
              <a:lnSpc>
                <a:spcPts val="1700"/>
              </a:lnSpc>
              <a:buNone/>
            </a:pPr>
            <a:r>
              <a:rPr lang="en-US" sz="1150" dirty="0">
                <a:solidFill>
                  <a:srgbClr val="6B6456"/>
                </a:solidFill>
                <a:latin typeface="Calibri" pitchFamily="34" charset="0"/>
                <a:ea typeface="Calibri" pitchFamily="34" charset="-122"/>
                <a:cs typeface="Calibri" pitchFamily="34" charset="-120"/>
              </a:rPr>
              <a:t>SMS broadcasts and</a:t>
            </a:r>
            <a:endParaRPr lang="en-US" sz="1150" dirty="0"/>
          </a:p>
          <a:p>
            <a:pPr indent="0" marL="0">
              <a:lnSpc>
                <a:spcPts val="1700"/>
              </a:lnSpc>
              <a:buNone/>
            </a:pPr>
            <a:r>
              <a:rPr lang="en-US" sz="1150" dirty="0">
                <a:solidFill>
                  <a:srgbClr val="6B6456"/>
                </a:solidFill>
                <a:latin typeface="Calibri" pitchFamily="34" charset="0"/>
                <a:ea typeface="Calibri" pitchFamily="34" charset="-122"/>
                <a:cs typeface="Calibri" pitchFamily="34" charset="-120"/>
              </a:rPr>
              <a:t>automatic reminders</a:t>
            </a:r>
            <a:endParaRPr lang="en-US" sz="1150" dirty="0"/>
          </a:p>
        </p:txBody>
      </p:sp>
      <p:sp>
        <p:nvSpPr>
          <p:cNvPr id="19" name="Shape 17"/>
          <p:cNvSpPr/>
          <p:nvPr/>
        </p:nvSpPr>
        <p:spPr>
          <a:xfrm>
            <a:off x="6949440" y="1901952"/>
            <a:ext cx="2194560" cy="3200400"/>
          </a:xfrm>
          <a:prstGeom prst="rect">
            <a:avLst/>
          </a:prstGeom>
          <a:solidFill>
            <a:srgbClr val="FFFFFF"/>
          </a:solidFill>
          <a:ln w="12700">
            <a:solidFill>
              <a:srgbClr val="E0D9C8"/>
            </a:solidFill>
            <a:prstDash val="solid"/>
          </a:ln>
        </p:spPr>
      </p:sp>
      <p:sp>
        <p:nvSpPr>
          <p:cNvPr id="20" name="Shape 18"/>
          <p:cNvSpPr/>
          <p:nvPr/>
        </p:nvSpPr>
        <p:spPr>
          <a:xfrm>
            <a:off x="6949440" y="1901952"/>
            <a:ext cx="2194560" cy="64008"/>
          </a:xfrm>
          <a:prstGeom prst="rect">
            <a:avLst/>
          </a:prstGeom>
          <a:solidFill>
            <a:srgbClr val="97742A"/>
          </a:solidFill>
          <a:ln/>
        </p:spPr>
      </p:sp>
      <p:sp>
        <p:nvSpPr>
          <p:cNvPr id="21" name="Text 19"/>
          <p:cNvSpPr/>
          <p:nvPr/>
        </p:nvSpPr>
        <p:spPr>
          <a:xfrm>
            <a:off x="7178040" y="2103120"/>
            <a:ext cx="1783080" cy="320040"/>
          </a:xfrm>
          <a:prstGeom prst="rect">
            <a:avLst/>
          </a:prstGeom>
          <a:noFill/>
          <a:ln/>
        </p:spPr>
        <p:txBody>
          <a:bodyPr wrap="square" lIns="0" tIns="0" rIns="0" bIns="0" rtlCol="0" anchor="ctr"/>
          <a:lstStyle/>
          <a:p>
            <a:pPr indent="0" marL="0">
              <a:buNone/>
            </a:pPr>
            <a:r>
              <a:rPr lang="en-US" sz="1700" b="1" dirty="0">
                <a:solidFill>
                  <a:srgbClr val="0B2B26"/>
                </a:solidFill>
                <a:latin typeface="Trebuchet MS" pitchFamily="34" charset="0"/>
                <a:ea typeface="Trebuchet MS" pitchFamily="34" charset="-122"/>
                <a:cs typeface="Trebuchet MS" pitchFamily="34" charset="-120"/>
              </a:rPr>
              <a:t>Pro</a:t>
            </a:r>
            <a:endParaRPr lang="en-US" sz="1700" dirty="0"/>
          </a:p>
        </p:txBody>
      </p:sp>
      <p:sp>
        <p:nvSpPr>
          <p:cNvPr id="22" name="Text 20"/>
          <p:cNvSpPr/>
          <p:nvPr/>
        </p:nvSpPr>
        <p:spPr>
          <a:xfrm>
            <a:off x="7178040" y="2487168"/>
            <a:ext cx="1783080" cy="566928"/>
          </a:xfrm>
          <a:prstGeom prst="rect">
            <a:avLst/>
          </a:prstGeom>
          <a:noFill/>
          <a:ln/>
        </p:spPr>
        <p:txBody>
          <a:bodyPr wrap="square" lIns="0" tIns="0" rIns="0" bIns="0" rtlCol="0" anchor="ctr"/>
          <a:lstStyle/>
          <a:p>
            <a:pPr indent="0" marL="0">
              <a:buNone/>
            </a:pPr>
            <a:r>
              <a:rPr lang="en-US" sz="2700" b="1" dirty="0">
                <a:solidFill>
                  <a:srgbClr val="0D7377"/>
                </a:solidFill>
                <a:latin typeface="Trebuchet MS" pitchFamily="34" charset="0"/>
                <a:ea typeface="Trebuchet MS" pitchFamily="34" charset="-122"/>
                <a:cs typeface="Trebuchet MS" pitchFamily="34" charset="-120"/>
              </a:rPr>
              <a:t>$24.99</a:t>
            </a:r>
            <a:endParaRPr lang="en-US" sz="2700" dirty="0"/>
          </a:p>
        </p:txBody>
      </p:sp>
      <p:sp>
        <p:nvSpPr>
          <p:cNvPr id="23" name="Text 21"/>
          <p:cNvSpPr/>
          <p:nvPr/>
        </p:nvSpPr>
        <p:spPr>
          <a:xfrm>
            <a:off x="7178040" y="3072384"/>
            <a:ext cx="1783080" cy="256032"/>
          </a:xfrm>
          <a:prstGeom prst="rect">
            <a:avLst/>
          </a:prstGeom>
          <a:noFill/>
          <a:ln/>
        </p:spPr>
        <p:txBody>
          <a:bodyPr wrap="square" lIns="0" tIns="0" rIns="0" bIns="0" rtlCol="0" anchor="ctr"/>
          <a:lstStyle/>
          <a:p>
            <a:pPr indent="0" marL="0">
              <a:buNone/>
            </a:pPr>
            <a:r>
              <a:rPr lang="en-US" sz="1100" dirty="0">
                <a:solidFill>
                  <a:srgbClr val="6B6456"/>
                </a:solidFill>
                <a:latin typeface="Calibri" pitchFamily="34" charset="0"/>
                <a:ea typeface="Calibri" pitchFamily="34" charset="-122"/>
                <a:cs typeface="Calibri" pitchFamily="34" charset="-120"/>
              </a:rPr>
              <a:t>per month</a:t>
            </a:r>
            <a:endParaRPr lang="en-US" sz="1100" dirty="0"/>
          </a:p>
        </p:txBody>
      </p:sp>
      <p:sp>
        <p:nvSpPr>
          <p:cNvPr id="24" name="Text 22"/>
          <p:cNvSpPr/>
          <p:nvPr/>
        </p:nvSpPr>
        <p:spPr>
          <a:xfrm>
            <a:off x="7178040" y="3364992"/>
            <a:ext cx="1783080" cy="274320"/>
          </a:xfrm>
          <a:prstGeom prst="rect">
            <a:avLst/>
          </a:prstGeom>
          <a:noFill/>
          <a:ln/>
        </p:spPr>
        <p:txBody>
          <a:bodyPr wrap="square" lIns="0" tIns="0" rIns="0" bIns="0" rtlCol="0" anchor="ctr"/>
          <a:lstStyle/>
          <a:p>
            <a:pPr indent="0" marL="0">
              <a:buNone/>
            </a:pPr>
            <a:r>
              <a:rPr lang="en-US" sz="1150" b="1" dirty="0">
                <a:solidFill>
                  <a:srgbClr val="97742A"/>
                </a:solidFill>
                <a:latin typeface="Calibri" pitchFamily="34" charset="0"/>
                <a:ea typeface="Calibri" pitchFamily="34" charset="-122"/>
                <a:cs typeface="Calibri" pitchFamily="34" charset="-120"/>
              </a:rPr>
              <a:t>up to 1,000 members</a:t>
            </a:r>
            <a:endParaRPr lang="en-US" sz="1150" dirty="0"/>
          </a:p>
        </p:txBody>
      </p:sp>
      <p:sp>
        <p:nvSpPr>
          <p:cNvPr id="25" name="Text 23"/>
          <p:cNvSpPr/>
          <p:nvPr/>
        </p:nvSpPr>
        <p:spPr>
          <a:xfrm>
            <a:off x="7178040" y="3703320"/>
            <a:ext cx="1810512" cy="1097280"/>
          </a:xfrm>
          <a:prstGeom prst="rect">
            <a:avLst/>
          </a:prstGeom>
          <a:noFill/>
          <a:ln/>
        </p:spPr>
        <p:txBody>
          <a:bodyPr wrap="square" lIns="0" tIns="0" rIns="0" bIns="0" rtlCol="0" anchor="ctr"/>
          <a:lstStyle/>
          <a:p>
            <a:pPr indent="0" marL="0">
              <a:lnSpc>
                <a:spcPts val="1700"/>
              </a:lnSpc>
              <a:buNone/>
            </a:pPr>
            <a:r>
              <a:rPr lang="en-US" sz="1150" dirty="0">
                <a:solidFill>
                  <a:srgbClr val="6B6456"/>
                </a:solidFill>
                <a:latin typeface="Calibri" pitchFamily="34" charset="0"/>
                <a:ea typeface="Calibri" pitchFamily="34" charset="-122"/>
                <a:cs typeface="Calibri" pitchFamily="34" charset="-120"/>
              </a:rPr>
              <a:t>Automations, advanced</a:t>
            </a:r>
            <a:endParaRPr lang="en-US" sz="1150" dirty="0"/>
          </a:p>
          <a:p>
            <a:pPr indent="0" marL="0">
              <a:lnSpc>
                <a:spcPts val="1700"/>
              </a:lnSpc>
              <a:buNone/>
            </a:pPr>
            <a:r>
              <a:rPr lang="en-US" sz="1150" dirty="0">
                <a:solidFill>
                  <a:srgbClr val="6B6456"/>
                </a:solidFill>
                <a:latin typeface="Calibri" pitchFamily="34" charset="0"/>
                <a:ea typeface="Calibri" pitchFamily="34" charset="-122"/>
                <a:cs typeface="Calibri" pitchFamily="34" charset="-120"/>
              </a:rPr>
              <a:t>reports and volunteer</a:t>
            </a:r>
            <a:endParaRPr lang="en-US" sz="1150" dirty="0"/>
          </a:p>
          <a:p>
            <a:pPr indent="0" marL="0">
              <a:lnSpc>
                <a:spcPts val="1700"/>
              </a:lnSpc>
              <a:buNone/>
            </a:pPr>
            <a:r>
              <a:rPr lang="en-US" sz="1150" dirty="0">
                <a:solidFill>
                  <a:srgbClr val="6B6456"/>
                </a:solidFill>
                <a:latin typeface="Calibri" pitchFamily="34" charset="0"/>
                <a:ea typeface="Calibri" pitchFamily="34" charset="-122"/>
                <a:cs typeface="Calibri" pitchFamily="34" charset="-120"/>
              </a:rPr>
              <a:t>scheduling</a:t>
            </a:r>
            <a:endParaRPr lang="en-US" sz="1150" dirty="0"/>
          </a:p>
        </p:txBody>
      </p:sp>
      <p:sp>
        <p:nvSpPr>
          <p:cNvPr id="26" name="Shape 24"/>
          <p:cNvSpPr/>
          <p:nvPr/>
        </p:nvSpPr>
        <p:spPr>
          <a:xfrm>
            <a:off x="9354312" y="1901952"/>
            <a:ext cx="2194560" cy="3200400"/>
          </a:xfrm>
          <a:prstGeom prst="rect">
            <a:avLst/>
          </a:prstGeom>
          <a:solidFill>
            <a:srgbClr val="FFFFFF"/>
          </a:solidFill>
          <a:ln w="12700">
            <a:solidFill>
              <a:srgbClr val="E0D9C8"/>
            </a:solidFill>
            <a:prstDash val="solid"/>
          </a:ln>
        </p:spPr>
      </p:sp>
      <p:sp>
        <p:nvSpPr>
          <p:cNvPr id="27" name="Shape 25"/>
          <p:cNvSpPr/>
          <p:nvPr/>
        </p:nvSpPr>
        <p:spPr>
          <a:xfrm>
            <a:off x="9354312" y="1901952"/>
            <a:ext cx="2194560" cy="64008"/>
          </a:xfrm>
          <a:prstGeom prst="rect">
            <a:avLst/>
          </a:prstGeom>
          <a:solidFill>
            <a:srgbClr val="97742A"/>
          </a:solidFill>
          <a:ln/>
        </p:spPr>
      </p:sp>
      <p:sp>
        <p:nvSpPr>
          <p:cNvPr id="28" name="Text 26"/>
          <p:cNvSpPr/>
          <p:nvPr/>
        </p:nvSpPr>
        <p:spPr>
          <a:xfrm>
            <a:off x="9582912" y="2103120"/>
            <a:ext cx="1783080" cy="320040"/>
          </a:xfrm>
          <a:prstGeom prst="rect">
            <a:avLst/>
          </a:prstGeom>
          <a:noFill/>
          <a:ln/>
        </p:spPr>
        <p:txBody>
          <a:bodyPr wrap="square" lIns="0" tIns="0" rIns="0" bIns="0" rtlCol="0" anchor="ctr"/>
          <a:lstStyle/>
          <a:p>
            <a:pPr indent="0" marL="0">
              <a:buNone/>
            </a:pPr>
            <a:r>
              <a:rPr lang="en-US" sz="1700" b="1" dirty="0">
                <a:solidFill>
                  <a:srgbClr val="0B2B26"/>
                </a:solidFill>
                <a:latin typeface="Trebuchet MS" pitchFamily="34" charset="0"/>
                <a:ea typeface="Trebuchet MS" pitchFamily="34" charset="-122"/>
                <a:cs typeface="Trebuchet MS" pitchFamily="34" charset="-120"/>
              </a:rPr>
              <a:t>Max</a:t>
            </a:r>
            <a:endParaRPr lang="en-US" sz="1700" dirty="0"/>
          </a:p>
        </p:txBody>
      </p:sp>
      <p:sp>
        <p:nvSpPr>
          <p:cNvPr id="29" name="Text 27"/>
          <p:cNvSpPr/>
          <p:nvPr/>
        </p:nvSpPr>
        <p:spPr>
          <a:xfrm>
            <a:off x="9582912" y="2487168"/>
            <a:ext cx="1783080" cy="566928"/>
          </a:xfrm>
          <a:prstGeom prst="rect">
            <a:avLst/>
          </a:prstGeom>
          <a:noFill/>
          <a:ln/>
        </p:spPr>
        <p:txBody>
          <a:bodyPr wrap="square" lIns="0" tIns="0" rIns="0" bIns="0" rtlCol="0" anchor="ctr"/>
          <a:lstStyle/>
          <a:p>
            <a:pPr indent="0" marL="0">
              <a:buNone/>
            </a:pPr>
            <a:r>
              <a:rPr lang="en-US" sz="2700" b="1" dirty="0">
                <a:solidFill>
                  <a:srgbClr val="0D7377"/>
                </a:solidFill>
                <a:latin typeface="Trebuchet MS" pitchFamily="34" charset="0"/>
                <a:ea typeface="Trebuchet MS" pitchFamily="34" charset="-122"/>
                <a:cs typeface="Trebuchet MS" pitchFamily="34" charset="-120"/>
              </a:rPr>
              <a:t>$49.99</a:t>
            </a:r>
            <a:endParaRPr lang="en-US" sz="2700" dirty="0"/>
          </a:p>
        </p:txBody>
      </p:sp>
      <p:sp>
        <p:nvSpPr>
          <p:cNvPr id="30" name="Text 28"/>
          <p:cNvSpPr/>
          <p:nvPr/>
        </p:nvSpPr>
        <p:spPr>
          <a:xfrm>
            <a:off x="9582912" y="3072384"/>
            <a:ext cx="1783080" cy="256032"/>
          </a:xfrm>
          <a:prstGeom prst="rect">
            <a:avLst/>
          </a:prstGeom>
          <a:noFill/>
          <a:ln/>
        </p:spPr>
        <p:txBody>
          <a:bodyPr wrap="square" lIns="0" tIns="0" rIns="0" bIns="0" rtlCol="0" anchor="ctr"/>
          <a:lstStyle/>
          <a:p>
            <a:pPr indent="0" marL="0">
              <a:buNone/>
            </a:pPr>
            <a:r>
              <a:rPr lang="en-US" sz="1100" dirty="0">
                <a:solidFill>
                  <a:srgbClr val="6B6456"/>
                </a:solidFill>
                <a:latin typeface="Calibri" pitchFamily="34" charset="0"/>
                <a:ea typeface="Calibri" pitchFamily="34" charset="-122"/>
                <a:cs typeface="Calibri" pitchFamily="34" charset="-120"/>
              </a:rPr>
              <a:t>per month</a:t>
            </a:r>
            <a:endParaRPr lang="en-US" sz="1100" dirty="0"/>
          </a:p>
        </p:txBody>
      </p:sp>
      <p:sp>
        <p:nvSpPr>
          <p:cNvPr id="31" name="Text 29"/>
          <p:cNvSpPr/>
          <p:nvPr/>
        </p:nvSpPr>
        <p:spPr>
          <a:xfrm>
            <a:off x="9582912" y="3364992"/>
            <a:ext cx="1783080" cy="274320"/>
          </a:xfrm>
          <a:prstGeom prst="rect">
            <a:avLst/>
          </a:prstGeom>
          <a:noFill/>
          <a:ln/>
        </p:spPr>
        <p:txBody>
          <a:bodyPr wrap="square" lIns="0" tIns="0" rIns="0" bIns="0" rtlCol="0" anchor="ctr"/>
          <a:lstStyle/>
          <a:p>
            <a:pPr indent="0" marL="0">
              <a:buNone/>
            </a:pPr>
            <a:r>
              <a:rPr lang="en-US" sz="1150" b="1" dirty="0">
                <a:solidFill>
                  <a:srgbClr val="97742A"/>
                </a:solidFill>
                <a:latin typeface="Calibri" pitchFamily="34" charset="0"/>
                <a:ea typeface="Calibri" pitchFamily="34" charset="-122"/>
                <a:cs typeface="Calibri" pitchFamily="34" charset="-120"/>
              </a:rPr>
              <a:t>unlimited members</a:t>
            </a:r>
            <a:endParaRPr lang="en-US" sz="1150" dirty="0"/>
          </a:p>
        </p:txBody>
      </p:sp>
      <p:sp>
        <p:nvSpPr>
          <p:cNvPr id="32" name="Text 30"/>
          <p:cNvSpPr/>
          <p:nvPr/>
        </p:nvSpPr>
        <p:spPr>
          <a:xfrm>
            <a:off x="9582912" y="3703320"/>
            <a:ext cx="1810512" cy="1097280"/>
          </a:xfrm>
          <a:prstGeom prst="rect">
            <a:avLst/>
          </a:prstGeom>
          <a:noFill/>
          <a:ln/>
        </p:spPr>
        <p:txBody>
          <a:bodyPr wrap="square" lIns="0" tIns="0" rIns="0" bIns="0" rtlCol="0" anchor="ctr"/>
          <a:lstStyle/>
          <a:p>
            <a:pPr indent="0" marL="0">
              <a:lnSpc>
                <a:spcPts val="1700"/>
              </a:lnSpc>
              <a:buNone/>
            </a:pPr>
            <a:r>
              <a:rPr lang="en-US" sz="1150" dirty="0">
                <a:solidFill>
                  <a:srgbClr val="6B6456"/>
                </a:solidFill>
                <a:latin typeface="Calibri" pitchFamily="34" charset="0"/>
                <a:ea typeface="Calibri" pitchFamily="34" charset="-122"/>
                <a:cs typeface="Calibri" pitchFamily="34" charset="-120"/>
              </a:rPr>
              <a:t>Full accounting,</a:t>
            </a:r>
            <a:endParaRPr lang="en-US" sz="1150" dirty="0"/>
          </a:p>
          <a:p>
            <a:pPr indent="0" marL="0">
              <a:lnSpc>
                <a:spcPts val="1700"/>
              </a:lnSpc>
              <a:buNone/>
            </a:pPr>
            <a:r>
              <a:rPr lang="en-US" sz="1150" dirty="0">
                <a:solidFill>
                  <a:srgbClr val="6B6456"/>
                </a:solidFill>
                <a:latin typeface="Calibri" pitchFamily="34" charset="0"/>
                <a:ea typeface="Calibri" pitchFamily="34" charset="-122"/>
                <a:cs typeface="Calibri" pitchFamily="34" charset="-120"/>
              </a:rPr>
              <a:t>analytics and priority</a:t>
            </a:r>
            <a:endParaRPr lang="en-US" sz="1150" dirty="0"/>
          </a:p>
          <a:p>
            <a:pPr indent="0" marL="0">
              <a:lnSpc>
                <a:spcPts val="1700"/>
              </a:lnSpc>
              <a:buNone/>
            </a:pPr>
            <a:r>
              <a:rPr lang="en-US" sz="1150" dirty="0">
                <a:solidFill>
                  <a:srgbClr val="6B6456"/>
                </a:solidFill>
                <a:latin typeface="Calibri" pitchFamily="34" charset="0"/>
                <a:ea typeface="Calibri" pitchFamily="34" charset="-122"/>
                <a:cs typeface="Calibri" pitchFamily="34" charset="-120"/>
              </a:rPr>
              <a:t>support</a:t>
            </a:r>
            <a:endParaRPr lang="en-US" sz="1150" dirty="0"/>
          </a:p>
        </p:txBody>
      </p:sp>
      <p:sp>
        <p:nvSpPr>
          <p:cNvPr id="33" name="Text 31"/>
          <p:cNvSpPr/>
          <p:nvPr/>
        </p:nvSpPr>
        <p:spPr>
          <a:xfrm>
            <a:off x="685800" y="5321808"/>
            <a:ext cx="10817352" cy="365760"/>
          </a:xfrm>
          <a:prstGeom prst="rect">
            <a:avLst/>
          </a:prstGeom>
          <a:noFill/>
          <a:ln/>
        </p:spPr>
        <p:txBody>
          <a:bodyPr wrap="square" rtlCol="0" anchor="ctr"/>
          <a:lstStyle/>
          <a:p>
            <a:pPr indent="0" marL="0">
              <a:buNone/>
            </a:pPr>
            <a:r>
              <a:rPr lang="en-US" sz="1350" i="1" dirty="0">
                <a:solidFill>
                  <a:srgbClr val="554F42"/>
                </a:solidFill>
                <a:latin typeface="Calibri" pitchFamily="34" charset="0"/>
                <a:ea typeface="Calibri" pitchFamily="34" charset="-122"/>
                <a:cs typeface="Calibri" pitchFamily="34" charset="-120"/>
              </a:rPr>
              <a:t>Pay yearly and get roughly two months free · No card needed to start · Cancel any time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B26"/>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97742A"/>
          </a:solidFill>
          <a:ln/>
        </p:spPr>
      </p:sp>
      <p:sp>
        <p:nvSpPr>
          <p:cNvPr id="3" name="Shape 1"/>
          <p:cNvSpPr/>
          <p:nvPr/>
        </p:nvSpPr>
        <p:spPr>
          <a:xfrm>
            <a:off x="777240" y="2212848"/>
            <a:ext cx="1874520" cy="1874520"/>
          </a:xfrm>
          <a:prstGeom prst="roundRect">
            <a:avLst>
              <a:gd name="adj" fmla="val 4878"/>
            </a:avLst>
          </a:prstGeom>
          <a:solidFill>
            <a:srgbClr val="F6F1E6"/>
          </a:solidFill>
          <a:ln/>
        </p:spPr>
      </p:sp>
      <p:pic>
        <p:nvPicPr>
          <p:cNvPr id="4" name="Image 0" descr="C:\Users\worsh\CODE CLAUDE\worshiphq\public\icon2.png">    </p:cNvPr>
          <p:cNvPicPr>
            <a:picLocks noChangeAspect="1"/>
          </p:cNvPicPr>
          <p:nvPr/>
        </p:nvPicPr>
        <p:blipFill>
          <a:blip r:embed="rId1"/>
          <a:stretch>
            <a:fillRect/>
          </a:stretch>
        </p:blipFill>
        <p:spPr>
          <a:xfrm>
            <a:off x="1014984" y="2450592"/>
            <a:ext cx="1399032" cy="1399032"/>
          </a:xfrm>
          <a:prstGeom prst="rect">
            <a:avLst/>
          </a:prstGeom>
        </p:spPr>
      </p:pic>
      <p:sp>
        <p:nvSpPr>
          <p:cNvPr id="5" name="Text 2"/>
          <p:cNvSpPr/>
          <p:nvPr/>
        </p:nvSpPr>
        <p:spPr>
          <a:xfrm>
            <a:off x="2788920" y="1965960"/>
            <a:ext cx="8595360" cy="1600200"/>
          </a:xfrm>
          <a:prstGeom prst="rect">
            <a:avLst/>
          </a:prstGeom>
          <a:noFill/>
          <a:ln/>
        </p:spPr>
        <p:txBody>
          <a:bodyPr wrap="square" rtlCol="0" anchor="ctr"/>
          <a:lstStyle/>
          <a:p>
            <a:pPr indent="0" marL="0">
              <a:lnSpc>
                <a:spcPts val="4600"/>
              </a:lnSpc>
              <a:buNone/>
            </a:pPr>
            <a:r>
              <a:rPr lang="en-US" sz="3800" b="1" dirty="0">
                <a:solidFill>
                  <a:srgbClr val="FFFFFF"/>
                </a:solidFill>
                <a:latin typeface="Trebuchet MS" pitchFamily="34" charset="0"/>
                <a:ea typeface="Trebuchet MS" pitchFamily="34" charset="-122"/>
                <a:cs typeface="Trebuchet MS" pitchFamily="34" charset="-120"/>
              </a:rPr>
              <a:t>Shall we set your church</a:t>
            </a:r>
            <a:endParaRPr lang="en-US" sz="3800" dirty="0"/>
          </a:p>
          <a:p>
            <a:pPr indent="0" marL="0">
              <a:lnSpc>
                <a:spcPts val="4600"/>
              </a:lnSpc>
              <a:buNone/>
            </a:pPr>
            <a:r>
              <a:rPr lang="en-US" sz="3800" b="1" dirty="0">
                <a:solidFill>
                  <a:srgbClr val="FFFFFF"/>
                </a:solidFill>
                <a:latin typeface="Trebuchet MS" pitchFamily="34" charset="0"/>
                <a:ea typeface="Trebuchet MS" pitchFamily="34" charset="-122"/>
                <a:cs typeface="Trebuchet MS" pitchFamily="34" charset="-120"/>
              </a:rPr>
              <a:t>up right now?</a:t>
            </a:r>
            <a:endParaRPr lang="en-US" sz="3800" dirty="0"/>
          </a:p>
        </p:txBody>
      </p:sp>
      <p:sp>
        <p:nvSpPr>
          <p:cNvPr id="6" name="Text 3"/>
          <p:cNvSpPr/>
          <p:nvPr/>
        </p:nvSpPr>
        <p:spPr>
          <a:xfrm>
            <a:off x="2834640" y="3703320"/>
            <a:ext cx="8412480" cy="822960"/>
          </a:xfrm>
          <a:prstGeom prst="rect">
            <a:avLst/>
          </a:prstGeom>
          <a:noFill/>
          <a:ln/>
        </p:spPr>
        <p:txBody>
          <a:bodyPr wrap="square" rtlCol="0" anchor="ctr"/>
          <a:lstStyle/>
          <a:p>
            <a:pPr indent="0" marL="0">
              <a:lnSpc>
                <a:spcPts val="2500"/>
              </a:lnSpc>
              <a:buNone/>
            </a:pPr>
            <a:r>
              <a:rPr lang="en-US" sz="1600" dirty="0">
                <a:solidFill>
                  <a:srgbClr val="C9D6CF"/>
                </a:solidFill>
                <a:latin typeface="Calibri" pitchFamily="34" charset="0"/>
                <a:ea typeface="Calibri" pitchFamily="34" charset="-122"/>
                <a:cs typeface="Calibri" pitchFamily="34" charset="-120"/>
              </a:rPr>
              <a:t>It takes about ten minutes. We'll add your church name, your departments, and</a:t>
            </a:r>
            <a:endParaRPr lang="en-US" sz="1600" dirty="0"/>
          </a:p>
          <a:p>
            <a:pPr indent="0" marL="0">
              <a:lnSpc>
                <a:spcPts val="2500"/>
              </a:lnSpc>
              <a:buNone/>
            </a:pPr>
            <a:r>
              <a:rPr lang="en-US" sz="1600" dirty="0">
                <a:solidFill>
                  <a:srgbClr val="C9D6CF"/>
                </a:solidFill>
                <a:latin typeface="Calibri" pitchFamily="34" charset="0"/>
                <a:ea typeface="Calibri" pitchFamily="34" charset="-122"/>
                <a:cs typeface="Calibri" pitchFamily="34" charset="-120"/>
              </a:rPr>
              <a:t>your first few members together — before I leave.</a:t>
            </a:r>
            <a:endParaRPr lang="en-US" sz="1600" dirty="0"/>
          </a:p>
        </p:txBody>
      </p:sp>
      <p:sp>
        <p:nvSpPr>
          <p:cNvPr id="7" name="Shape 4"/>
          <p:cNvSpPr/>
          <p:nvPr/>
        </p:nvSpPr>
        <p:spPr>
          <a:xfrm>
            <a:off x="2834640" y="4709160"/>
            <a:ext cx="1371600" cy="41148"/>
          </a:xfrm>
          <a:prstGeom prst="rect">
            <a:avLst/>
          </a:prstGeom>
          <a:solidFill>
            <a:srgbClr val="97742A"/>
          </a:solidFill>
          <a:ln/>
        </p:spPr>
      </p:sp>
      <p:sp>
        <p:nvSpPr>
          <p:cNvPr id="8" name="Text 5"/>
          <p:cNvSpPr/>
          <p:nvPr/>
        </p:nvSpPr>
        <p:spPr>
          <a:xfrm>
            <a:off x="2834640" y="4983480"/>
            <a:ext cx="8229600" cy="365760"/>
          </a:xfrm>
          <a:prstGeom prst="rect">
            <a:avLst/>
          </a:prstGeom>
          <a:noFill/>
          <a:ln/>
        </p:spPr>
        <p:txBody>
          <a:bodyPr wrap="square" rtlCol="0" anchor="ctr"/>
          <a:lstStyle/>
          <a:p>
            <a:pPr indent="0" marL="0">
              <a:buNone/>
            </a:pPr>
            <a:r>
              <a:rPr lang="en-US" sz="1400" b="1" dirty="0">
                <a:solidFill>
                  <a:srgbClr val="97742A"/>
                </a:solidFill>
                <a:latin typeface="Calibri" pitchFamily="34" charset="0"/>
                <a:ea typeface="Calibri" pitchFamily="34" charset="-122"/>
                <a:cs typeface="Calibri" pitchFamily="34" charset="-120"/>
              </a:rPr>
              <a:t>worshiphq.app   ·   Free for your first 50 members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WorshipHQ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WorshipHQ — Pastor Walkthrough</dc:title>
  <dc:subject>PptxGenJS Presentation</dc:subject>
  <dc:creator>WorshipHQ</dc:creator>
  <cp:lastModifiedBy>WorshipHQ</cp:lastModifiedBy>
  <cp:revision>1</cp:revision>
  <dcterms:created xsi:type="dcterms:W3CDTF">2026-07-20T16:33:44Z</dcterms:created>
  <dcterms:modified xsi:type="dcterms:W3CDTF">2026-07-20T16:33:44Z</dcterms:modified>
</cp:coreProperties>
</file>